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8288000" cy="10287000"/>
  <p:notesSz cx="6858000" cy="9144000"/>
  <p:embeddedFontLst>
    <p:embeddedFont>
      <p:font typeface="Calibri (MS)" panose="020B0604020202020204" charset="0"/>
      <p:regular r:id="rId39"/>
    </p:embeddedFont>
    <p:embeddedFont>
      <p:font typeface="Calibri (MS) Bold" panose="020B0604020202020204" charset="0"/>
      <p:regular r:id="rId40"/>
    </p:embeddedFont>
    <p:embeddedFont>
      <p:font typeface="Calibri (MS) Italics" panose="020B0604020202020204" charset="0"/>
      <p:regular r:id="rId41"/>
    </p:embeddedFont>
    <p:embeddedFont>
      <p:font typeface="Consolas" panose="020B0609020204030204" pitchFamily="49" charset="0"/>
      <p:regular r:id="rId42"/>
      <p:bold r:id="rId43"/>
      <p:italic r:id="rId44"/>
      <p:boldItalic r:id="rId45"/>
    </p:embeddedFont>
    <p:embeddedFont>
      <p:font typeface="Consolas Bold" panose="020B0709020204030204" pitchFamily="49" charset="0"/>
      <p:regular r:id="rId46"/>
      <p:bold r:id="rId47"/>
    </p:embeddedFont>
    <p:embeddedFont>
      <p:font typeface="Verdana" panose="020B0604030504040204" pitchFamily="34" charset="0"/>
      <p:regular r:id="rId48"/>
      <p:bold r:id="rId49"/>
      <p:italic r:id="rId50"/>
      <p:boldItalic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github.com/features/issues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://localhost:8080/swagger-ui/index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jpe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44859"/>
            <a:chOff x="0" y="0"/>
            <a:chExt cx="24417871" cy="3264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326517"/>
            </a:xfrm>
            <a:custGeom>
              <a:avLst/>
              <a:gdLst/>
              <a:ahLst/>
              <a:cxnLst/>
              <a:rect l="l" t="t" r="r" b="b"/>
              <a:pathLst>
                <a:path w="24417910" h="326517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48972" y="182880"/>
            <a:ext cx="15727680" cy="2011680"/>
            <a:chOff x="0" y="0"/>
            <a:chExt cx="20970240" cy="268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970239" cy="2682240"/>
            </a:xfrm>
            <a:custGeom>
              <a:avLst/>
              <a:gdLst/>
              <a:ahLst/>
              <a:cxnLst/>
              <a:rect l="l" t="t" r="r" b="b"/>
              <a:pathLst>
                <a:path w="20970239" h="2682240">
                  <a:moveTo>
                    <a:pt x="0" y="0"/>
                  </a:moveTo>
                  <a:lnTo>
                    <a:pt x="20970239" y="0"/>
                  </a:lnTo>
                  <a:lnTo>
                    <a:pt x="20970239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337" b="-10233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09550"/>
              <a:ext cx="20970240" cy="2891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480"/>
                </a:lnSpc>
              </a:pPr>
              <a:r>
                <a:rPr lang="en-US" sz="10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UrbanFlow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80160" y="1918487"/>
            <a:ext cx="15727680" cy="1280160"/>
            <a:chOff x="0" y="0"/>
            <a:chExt cx="2097024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970239" cy="1706880"/>
            </a:xfrm>
            <a:custGeom>
              <a:avLst/>
              <a:gdLst/>
              <a:ahLst/>
              <a:cxnLst/>
              <a:rect l="l" t="t" r="r" b="b"/>
              <a:pathLst>
                <a:path w="20970239" h="1706880">
                  <a:moveTo>
                    <a:pt x="0" y="0"/>
                  </a:moveTo>
                  <a:lnTo>
                    <a:pt x="20970239" y="0"/>
                  </a:lnTo>
                  <a:lnTo>
                    <a:pt x="20970239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9387" b="-18938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20970240" cy="1783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i="1">
                  <a:solidFill>
                    <a:srgbClr val="A5F3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Sistema de Gestión de Pedidos e Inventario de Ropa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56915" y="3090367"/>
            <a:ext cx="5511803" cy="116843"/>
            <a:chOff x="0" y="0"/>
            <a:chExt cx="7349071" cy="1557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49109" cy="155829"/>
            </a:xfrm>
            <a:custGeom>
              <a:avLst/>
              <a:gdLst/>
              <a:ahLst/>
              <a:cxnLst/>
              <a:rect l="l" t="t" r="r" b="b"/>
              <a:pathLst>
                <a:path w="7349109" h="155829">
                  <a:moveTo>
                    <a:pt x="0" y="0"/>
                  </a:moveTo>
                  <a:lnTo>
                    <a:pt x="7349109" y="0"/>
                  </a:lnTo>
                  <a:lnTo>
                    <a:pt x="73491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0160" y="3194514"/>
            <a:ext cx="15727680" cy="2377440"/>
            <a:chOff x="0" y="0"/>
            <a:chExt cx="20970240" cy="31699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970239" cy="3169920"/>
            </a:xfrm>
            <a:custGeom>
              <a:avLst/>
              <a:gdLst/>
              <a:ahLst/>
              <a:cxnLst/>
              <a:rect l="l" t="t" r="r" b="b"/>
              <a:pathLst>
                <a:path w="20970239" h="3169920">
                  <a:moveTo>
                    <a:pt x="0" y="0"/>
                  </a:moveTo>
                  <a:lnTo>
                    <a:pt x="20970239" y="0"/>
                  </a:lnTo>
                  <a:lnTo>
                    <a:pt x="20970239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901" b="-7890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0970240" cy="3217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Hito 2 – Semana 10 (APF2)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Asignatura: Herramientas de Desarrollo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Docente: Milla Flores José Luis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 8  |  Ciclo 7 Marzo – San Juan de Lurigancho, 2026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01862" y="5053994"/>
            <a:ext cx="6400800" cy="640080"/>
            <a:chOff x="0" y="0"/>
            <a:chExt cx="8534400" cy="853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34400" cy="853440"/>
            </a:xfrm>
            <a:custGeom>
              <a:avLst/>
              <a:gdLst/>
              <a:ahLst/>
              <a:cxnLst/>
              <a:rect l="l" t="t" r="r" b="b"/>
              <a:pathLst>
                <a:path w="8534400" h="85344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85344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Integrantes: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1862" y="6149467"/>
            <a:ext cx="15727680" cy="3108833"/>
            <a:chOff x="0" y="0"/>
            <a:chExt cx="20970240" cy="414511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970239" cy="4145111"/>
            </a:xfrm>
            <a:custGeom>
              <a:avLst/>
              <a:gdLst/>
              <a:ahLst/>
              <a:cxnLst/>
              <a:rect l="l" t="t" r="r" b="b"/>
              <a:pathLst>
                <a:path w="20970239" h="4145111">
                  <a:moveTo>
                    <a:pt x="0" y="0"/>
                  </a:moveTo>
                  <a:lnTo>
                    <a:pt x="20970239" y="0"/>
                  </a:lnTo>
                  <a:lnTo>
                    <a:pt x="20970239" y="4145111"/>
                  </a:lnTo>
                  <a:lnTo>
                    <a:pt x="0" y="4145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103" b="-2504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0970240" cy="4192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30860" lvl="1" indent="-265430" algn="l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Uriel Vasquez Quispe (U23227010)</a:t>
              </a:r>
            </a:p>
            <a:p>
              <a:pPr marL="530860" lvl="1" indent="-265430" algn="l">
                <a:lnSpc>
                  <a:spcPts val="2640"/>
                </a:lnSpc>
              </a:pPr>
              <a:endParaRPr lang="en-US" sz="2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530860" lvl="1" indent="-265430" algn="l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Christian Rivas Aquino (U23226966)</a:t>
              </a:r>
            </a:p>
            <a:p>
              <a:pPr marL="530860" lvl="1" indent="-265430" algn="l">
                <a:lnSpc>
                  <a:spcPts val="2640"/>
                </a:lnSpc>
              </a:pPr>
              <a:endParaRPr lang="en-US" sz="2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530860" lvl="1" indent="-265430" algn="l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Renzo Estefano Yupanqui De la Cruz (U22229407)</a:t>
              </a:r>
            </a:p>
            <a:p>
              <a:pPr marL="530860" lvl="1" indent="-265430" algn="l">
                <a:lnSpc>
                  <a:spcPts val="2640"/>
                </a:lnSpc>
              </a:pPr>
              <a:endParaRPr lang="en-US" sz="2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530860" lvl="1" indent="-265430" algn="l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David Jair Mendoza Figueroa (U22226721)</a:t>
              </a:r>
            </a:p>
            <a:p>
              <a:pPr marL="530860" lvl="1" indent="-265430" algn="l">
                <a:lnSpc>
                  <a:spcPts val="2640"/>
                </a:lnSpc>
              </a:pPr>
              <a:endParaRPr lang="en-US" sz="2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530860" lvl="1" indent="-265430" algn="l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Aldair Ronaldo Casimiro Ramos (U23252961)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12697" y="9954263"/>
            <a:ext cx="18313403" cy="354587"/>
            <a:chOff x="0" y="0"/>
            <a:chExt cx="24417871" cy="47278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417910" cy="472821"/>
            </a:xfrm>
            <a:custGeom>
              <a:avLst/>
              <a:gdLst/>
              <a:ahLst/>
              <a:cxnLst/>
              <a:rect l="l" t="t" r="r" b="b"/>
              <a:pathLst>
                <a:path w="24417910" h="472821">
                  <a:moveTo>
                    <a:pt x="0" y="0"/>
                  </a:moveTo>
                  <a:lnTo>
                    <a:pt x="24417910" y="0"/>
                  </a:lnTo>
                  <a:lnTo>
                    <a:pt x="24417910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589394" y="212950"/>
            <a:ext cx="4698606" cy="1645044"/>
            <a:chOff x="0" y="0"/>
            <a:chExt cx="6264808" cy="21933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264783" cy="2193417"/>
            </a:xfrm>
            <a:custGeom>
              <a:avLst/>
              <a:gdLst/>
              <a:ahLst/>
              <a:cxnLst/>
              <a:rect l="l" t="t" r="r" b="b"/>
              <a:pathLst>
                <a:path w="6264783" h="2193417">
                  <a:moveTo>
                    <a:pt x="0" y="0"/>
                  </a:moveTo>
                  <a:lnTo>
                    <a:pt x="6264783" y="0"/>
                  </a:lnTo>
                  <a:lnTo>
                    <a:pt x="6264783" y="2193417"/>
                  </a:lnTo>
                  <a:lnTo>
                    <a:pt x="0" y="2193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6171" r="-15843" b="-114697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21547"/>
            <a:chOff x="0" y="0"/>
            <a:chExt cx="472783" cy="137620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62101"/>
            </a:xfrm>
            <a:custGeom>
              <a:avLst/>
              <a:gdLst/>
              <a:ahLst/>
              <a:cxnLst/>
              <a:rect l="l" t="t" r="r" b="b"/>
              <a:pathLst>
                <a:path w="472821" h="13762101">
                  <a:moveTo>
                    <a:pt x="0" y="0"/>
                  </a:moveTo>
                  <a:lnTo>
                    <a:pt x="472821" y="0"/>
                  </a:lnTo>
                  <a:lnTo>
                    <a:pt x="472821" y="13762101"/>
                  </a:lnTo>
                  <a:lnTo>
                    <a:pt x="0" y="13762101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457200"/>
            <a:ext cx="16459200" cy="1280160"/>
            <a:chOff x="0" y="0"/>
            <a:chExt cx="21945600" cy="17068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Contenido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1703" y="1998983"/>
            <a:ext cx="8255003" cy="1342139"/>
            <a:chOff x="0" y="0"/>
            <a:chExt cx="11006671" cy="17895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06709" cy="1789557"/>
            </a:xfrm>
            <a:custGeom>
              <a:avLst/>
              <a:gdLst/>
              <a:ahLst/>
              <a:cxnLst/>
              <a:rect l="l" t="t" r="r" b="b"/>
              <a:pathLst>
                <a:path w="11006709" h="1789557">
                  <a:moveTo>
                    <a:pt x="0" y="0"/>
                  </a:moveTo>
                  <a:lnTo>
                    <a:pt x="11006709" y="0"/>
                  </a:lnTo>
                  <a:lnTo>
                    <a:pt x="1100670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33856" y="2231136"/>
            <a:ext cx="914400" cy="877824"/>
            <a:chOff x="0" y="0"/>
            <a:chExt cx="1219200" cy="11704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19200" cy="1170432"/>
            </a:xfrm>
            <a:custGeom>
              <a:avLst/>
              <a:gdLst/>
              <a:ahLst/>
              <a:cxnLst/>
              <a:rect l="l" t="t" r="r" b="b"/>
              <a:pathLst>
                <a:path w="1219200" h="1170432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r="-7317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21920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48256" y="2249424"/>
            <a:ext cx="6858000" cy="841248"/>
            <a:chOff x="0" y="0"/>
            <a:chExt cx="9144000" cy="11216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44000" cy="1121664"/>
            </a:xfrm>
            <a:custGeom>
              <a:avLst/>
              <a:gdLst/>
              <a:ahLst/>
              <a:cxnLst/>
              <a:rect l="l" t="t" r="r" b="b"/>
              <a:pathLst>
                <a:path w="9144000" h="1121664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845" b="-10884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Ágil – Kanban + Issues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1703" y="3608327"/>
            <a:ext cx="8255003" cy="1342139"/>
            <a:chOff x="0" y="0"/>
            <a:chExt cx="11006671" cy="17895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06709" cy="1789557"/>
            </a:xfrm>
            <a:custGeom>
              <a:avLst/>
              <a:gdLst/>
              <a:ahLst/>
              <a:cxnLst/>
              <a:rect l="l" t="t" r="r" b="b"/>
              <a:pathLst>
                <a:path w="11006709" h="1789557">
                  <a:moveTo>
                    <a:pt x="0" y="0"/>
                  </a:moveTo>
                  <a:lnTo>
                    <a:pt x="11006709" y="0"/>
                  </a:lnTo>
                  <a:lnTo>
                    <a:pt x="1100670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33856" y="3840480"/>
            <a:ext cx="914400" cy="877824"/>
            <a:chOff x="0" y="0"/>
            <a:chExt cx="1219200" cy="11704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19200" cy="1170432"/>
            </a:xfrm>
            <a:custGeom>
              <a:avLst/>
              <a:gdLst/>
              <a:ahLst/>
              <a:cxnLst/>
              <a:rect l="l" t="t" r="r" b="b"/>
              <a:pathLst>
                <a:path w="1219200" h="1170432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r="-7317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21920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048256" y="3858768"/>
            <a:ext cx="6858000" cy="841248"/>
            <a:chOff x="0" y="0"/>
            <a:chExt cx="9144000" cy="11216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0" cy="1121664"/>
            </a:xfrm>
            <a:custGeom>
              <a:avLst/>
              <a:gdLst/>
              <a:ahLst/>
              <a:cxnLst/>
              <a:rect l="l" t="t" r="r" b="b"/>
              <a:pathLst>
                <a:path w="9144000" h="1121664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845" b="-10884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Módulo Productos REST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01703" y="5217671"/>
            <a:ext cx="8255003" cy="1342139"/>
            <a:chOff x="0" y="0"/>
            <a:chExt cx="11006671" cy="17895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006709" cy="1789557"/>
            </a:xfrm>
            <a:custGeom>
              <a:avLst/>
              <a:gdLst/>
              <a:ahLst/>
              <a:cxnLst/>
              <a:rect l="l" t="t" r="r" b="b"/>
              <a:pathLst>
                <a:path w="11006709" h="1789557">
                  <a:moveTo>
                    <a:pt x="0" y="0"/>
                  </a:moveTo>
                  <a:lnTo>
                    <a:pt x="11006709" y="0"/>
                  </a:lnTo>
                  <a:lnTo>
                    <a:pt x="1100670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33856" y="5449824"/>
            <a:ext cx="914400" cy="877824"/>
            <a:chOff x="0" y="0"/>
            <a:chExt cx="1219200" cy="117043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19200" cy="1170432"/>
            </a:xfrm>
            <a:custGeom>
              <a:avLst/>
              <a:gdLst/>
              <a:ahLst/>
              <a:cxnLst/>
              <a:rect l="l" t="t" r="r" b="b"/>
              <a:pathLst>
                <a:path w="1219200" h="1170432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r="-7317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21920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048256" y="5468112"/>
            <a:ext cx="6858000" cy="841248"/>
            <a:chOff x="0" y="0"/>
            <a:chExt cx="9144000" cy="112166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4000" cy="1121664"/>
            </a:xfrm>
            <a:custGeom>
              <a:avLst/>
              <a:gdLst/>
              <a:ahLst/>
              <a:cxnLst/>
              <a:rect l="l" t="t" r="r" b="b"/>
              <a:pathLst>
                <a:path w="9144000" h="1121664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845" b="-10884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Módulo Ventas (Pedidos) REST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01703" y="6827015"/>
            <a:ext cx="8255003" cy="1342139"/>
            <a:chOff x="0" y="0"/>
            <a:chExt cx="11006671" cy="17895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006709" cy="1789557"/>
            </a:xfrm>
            <a:custGeom>
              <a:avLst/>
              <a:gdLst/>
              <a:ahLst/>
              <a:cxnLst/>
              <a:rect l="l" t="t" r="r" b="b"/>
              <a:pathLst>
                <a:path w="11006709" h="1789557">
                  <a:moveTo>
                    <a:pt x="0" y="0"/>
                  </a:moveTo>
                  <a:lnTo>
                    <a:pt x="11006709" y="0"/>
                  </a:lnTo>
                  <a:lnTo>
                    <a:pt x="1100670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33856" y="7059168"/>
            <a:ext cx="914400" cy="877824"/>
            <a:chOff x="0" y="0"/>
            <a:chExt cx="1219200" cy="117043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19200" cy="1170432"/>
            </a:xfrm>
            <a:custGeom>
              <a:avLst/>
              <a:gdLst/>
              <a:ahLst/>
              <a:cxnLst/>
              <a:rect l="l" t="t" r="r" b="b"/>
              <a:pathLst>
                <a:path w="1219200" h="1170432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r="-7317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121920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048256" y="7077456"/>
            <a:ext cx="6858000" cy="841248"/>
            <a:chOff x="0" y="0"/>
            <a:chExt cx="9144000" cy="11216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144000" cy="1121664"/>
            </a:xfrm>
            <a:custGeom>
              <a:avLst/>
              <a:gdLst/>
              <a:ahLst/>
              <a:cxnLst/>
              <a:rect l="l" t="t" r="r" b="b"/>
              <a:pathLst>
                <a:path w="9144000" h="1121664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845" b="-10884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Documentación con Swagger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679943" y="1998983"/>
            <a:ext cx="8255003" cy="1342139"/>
            <a:chOff x="0" y="0"/>
            <a:chExt cx="11006671" cy="17895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006709" cy="1789557"/>
            </a:xfrm>
            <a:custGeom>
              <a:avLst/>
              <a:gdLst/>
              <a:ahLst/>
              <a:cxnLst/>
              <a:rect l="l" t="t" r="r" b="b"/>
              <a:pathLst>
                <a:path w="11006709" h="1789557">
                  <a:moveTo>
                    <a:pt x="0" y="0"/>
                  </a:moveTo>
                  <a:lnTo>
                    <a:pt x="11006709" y="0"/>
                  </a:lnTo>
                  <a:lnTo>
                    <a:pt x="1100670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912096" y="2231136"/>
            <a:ext cx="914400" cy="877824"/>
            <a:chOff x="0" y="0"/>
            <a:chExt cx="1219200" cy="11704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19200" cy="1170432"/>
            </a:xfrm>
            <a:custGeom>
              <a:avLst/>
              <a:gdLst/>
              <a:ahLst/>
              <a:cxnLst/>
              <a:rect l="l" t="t" r="r" b="b"/>
              <a:pathLst>
                <a:path w="1219200" h="1170432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r="-7317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121920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826496" y="2249424"/>
            <a:ext cx="6858000" cy="841248"/>
            <a:chOff x="0" y="0"/>
            <a:chExt cx="9144000" cy="112166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144000" cy="1121664"/>
            </a:xfrm>
            <a:custGeom>
              <a:avLst/>
              <a:gdLst/>
              <a:ahLst/>
              <a:cxnLst/>
              <a:rect l="l" t="t" r="r" b="b"/>
              <a:pathLst>
                <a:path w="9144000" h="1121664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845" b="-10884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Merge Conflict + Resolución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79943" y="3608327"/>
            <a:ext cx="8255003" cy="1342139"/>
            <a:chOff x="0" y="0"/>
            <a:chExt cx="11006671" cy="178951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006709" cy="1789557"/>
            </a:xfrm>
            <a:custGeom>
              <a:avLst/>
              <a:gdLst/>
              <a:ahLst/>
              <a:cxnLst/>
              <a:rect l="l" t="t" r="r" b="b"/>
              <a:pathLst>
                <a:path w="11006709" h="1789557">
                  <a:moveTo>
                    <a:pt x="0" y="0"/>
                  </a:moveTo>
                  <a:lnTo>
                    <a:pt x="11006709" y="0"/>
                  </a:lnTo>
                  <a:lnTo>
                    <a:pt x="1100670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912096" y="3840480"/>
            <a:ext cx="914400" cy="877824"/>
            <a:chOff x="0" y="0"/>
            <a:chExt cx="1219200" cy="117043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19200" cy="1170432"/>
            </a:xfrm>
            <a:custGeom>
              <a:avLst/>
              <a:gdLst/>
              <a:ahLst/>
              <a:cxnLst/>
              <a:rect l="l" t="t" r="r" b="b"/>
              <a:pathLst>
                <a:path w="1219200" h="1170432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r="-7317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57150"/>
              <a:ext cx="121920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826496" y="3858768"/>
            <a:ext cx="6858000" cy="841248"/>
            <a:chOff x="0" y="0"/>
            <a:chExt cx="9144000" cy="112166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144000" cy="1121664"/>
            </a:xfrm>
            <a:custGeom>
              <a:avLst/>
              <a:gdLst/>
              <a:ahLst/>
              <a:cxnLst/>
              <a:rect l="l" t="t" r="r" b="b"/>
              <a:pathLst>
                <a:path w="9144000" h="1121664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845" b="-10884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Git del Proyecto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679943" y="5217671"/>
            <a:ext cx="8255003" cy="1342139"/>
            <a:chOff x="0" y="0"/>
            <a:chExt cx="11006671" cy="178951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006709" cy="1789557"/>
            </a:xfrm>
            <a:custGeom>
              <a:avLst/>
              <a:gdLst/>
              <a:ahLst/>
              <a:cxnLst/>
              <a:rect l="l" t="t" r="r" b="b"/>
              <a:pathLst>
                <a:path w="11006709" h="1789557">
                  <a:moveTo>
                    <a:pt x="0" y="0"/>
                  </a:moveTo>
                  <a:lnTo>
                    <a:pt x="11006709" y="0"/>
                  </a:lnTo>
                  <a:lnTo>
                    <a:pt x="1100670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912096" y="5449824"/>
            <a:ext cx="914400" cy="877824"/>
            <a:chOff x="0" y="0"/>
            <a:chExt cx="1219200" cy="117043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219200" cy="1170432"/>
            </a:xfrm>
            <a:custGeom>
              <a:avLst/>
              <a:gdLst/>
              <a:ahLst/>
              <a:cxnLst/>
              <a:rect l="l" t="t" r="r" b="b"/>
              <a:pathLst>
                <a:path w="1219200" h="1170432">
                  <a:moveTo>
                    <a:pt x="0" y="0"/>
                  </a:moveTo>
                  <a:lnTo>
                    <a:pt x="1219200" y="0"/>
                  </a:lnTo>
                  <a:lnTo>
                    <a:pt x="1219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r="-7317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57150"/>
              <a:ext cx="121920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826496" y="5468112"/>
            <a:ext cx="6858000" cy="841248"/>
            <a:chOff x="0" y="0"/>
            <a:chExt cx="9144000" cy="112166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144000" cy="1121664"/>
            </a:xfrm>
            <a:custGeom>
              <a:avLst/>
              <a:gdLst/>
              <a:ahLst/>
              <a:cxnLst/>
              <a:rect l="l" t="t" r="r" b="b"/>
              <a:pathLst>
                <a:path w="9144000" h="1121664">
                  <a:moveTo>
                    <a:pt x="0" y="0"/>
                  </a:moveTo>
                  <a:lnTo>
                    <a:pt x="9144000" y="0"/>
                  </a:lnTo>
                  <a:lnTo>
                    <a:pt x="91440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845" b="-10884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91440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Gestión Ágil – Kanban + Issues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2011680"/>
            <a:ext cx="16824960" cy="640080"/>
            <a:chOff x="0" y="0"/>
            <a:chExt cx="2243328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Responsable: Renzo Estefano Yupanqui De la Cruz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2743200"/>
            <a:ext cx="8412480" cy="7132320"/>
            <a:chOff x="0" y="0"/>
            <a:chExt cx="11216640" cy="95097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216640" cy="9509760"/>
            </a:xfrm>
            <a:custGeom>
              <a:avLst/>
              <a:gdLst/>
              <a:ahLst/>
              <a:cxnLst/>
              <a:rect l="l" t="t" r="r" b="b"/>
              <a:pathLst>
                <a:path w="11216640" h="9509760">
                  <a:moveTo>
                    <a:pt x="0" y="0"/>
                  </a:moveTo>
                  <a:lnTo>
                    <a:pt x="11216640" y="0"/>
                  </a:lnTo>
                  <a:lnTo>
                    <a:pt x="11216640" y="9509760"/>
                  </a:lnTo>
                  <a:lnTo>
                    <a:pt x="0" y="9509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779" r="-58779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216640" cy="95669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Herramienta: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Projects + GitHub Issues</a:t>
              </a:r>
            </a:p>
            <a:p>
              <a:pPr algn="l">
                <a:lnSpc>
                  <a:spcPts val="3120"/>
                </a:lnSpc>
              </a:pPr>
              <a:endParaRPr lang="en-US" sz="26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Objetivo: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Organizar tareas del equipo, hacer seguimiento del progreso y facilitar el trabajo colaborativo.</a:t>
              </a:r>
            </a:p>
            <a:p>
              <a:pPr algn="l">
                <a:lnSpc>
                  <a:spcPts val="3120"/>
                </a:lnSpc>
              </a:pPr>
              <a:endParaRPr lang="en-US" sz="26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Acciones: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Configurar tablero en GitHub Projects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Crear Issues por tarea asignada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Asignar responsables mediante Assignees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Vincular Pull Requests con Issues (Closes #)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09760" y="2743200"/>
            <a:ext cx="8046720" cy="640080"/>
            <a:chOff x="0" y="0"/>
            <a:chExt cx="10728960" cy="853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28960" cy="853440"/>
            </a:xfrm>
            <a:custGeom>
              <a:avLst/>
              <a:gdLst/>
              <a:ahLst/>
              <a:cxnLst/>
              <a:rect l="l" t="t" r="r" b="b"/>
              <a:pathLst>
                <a:path w="10728960" h="85344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4954" b="-19495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072896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Columnas del Tablero Kanban: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497063" y="3462023"/>
            <a:ext cx="354587" cy="976379"/>
            <a:chOff x="0" y="0"/>
            <a:chExt cx="472783" cy="130183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2821" cy="1301877"/>
            </a:xfrm>
            <a:custGeom>
              <a:avLst/>
              <a:gdLst/>
              <a:ahLst/>
              <a:cxnLst/>
              <a:rect l="l" t="t" r="r" b="b"/>
              <a:pathLst>
                <a:path w="472821" h="1301877">
                  <a:moveTo>
                    <a:pt x="0" y="0"/>
                  </a:moveTo>
                  <a:lnTo>
                    <a:pt x="472821" y="0"/>
                  </a:lnTo>
                  <a:lnTo>
                    <a:pt x="472821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94A3B8"/>
            </a:solidFill>
            <a:ln w="25400" cap="sq">
              <a:solidFill>
                <a:srgbClr val="94A3B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66960" y="3511296"/>
            <a:ext cx="2194560" cy="457200"/>
            <a:chOff x="0" y="0"/>
            <a:chExt cx="2926080" cy="60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26080" cy="609600"/>
            </a:xfrm>
            <a:custGeom>
              <a:avLst/>
              <a:gdLst/>
              <a:ahLst/>
              <a:cxnLst/>
              <a:rect l="l" t="t" r="r" b="b"/>
              <a:pathLst>
                <a:path w="2926080" h="60960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92608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Backlog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66960" y="3950208"/>
            <a:ext cx="6949440" cy="438912"/>
            <a:chOff x="0" y="0"/>
            <a:chExt cx="9265920" cy="58521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265920" cy="585216"/>
            </a:xfrm>
            <a:custGeom>
              <a:avLst/>
              <a:gdLst/>
              <a:ahLst/>
              <a:cxnLst/>
              <a:rect l="l" t="t" r="r" b="b"/>
              <a:pathLst>
                <a:path w="9265920" h="585216">
                  <a:moveTo>
                    <a:pt x="0" y="0"/>
                  </a:moveTo>
                  <a:lnTo>
                    <a:pt x="9265920" y="0"/>
                  </a:lnTo>
                  <a:lnTo>
                    <a:pt x="926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513" b="-25851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26592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Tareas pendientes de planificación o priorización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97063" y="4705607"/>
            <a:ext cx="354587" cy="976379"/>
            <a:chOff x="0" y="0"/>
            <a:chExt cx="472783" cy="130183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2821" cy="1301877"/>
            </a:xfrm>
            <a:custGeom>
              <a:avLst/>
              <a:gdLst/>
              <a:ahLst/>
              <a:cxnLst/>
              <a:rect l="l" t="t" r="r" b="b"/>
              <a:pathLst>
                <a:path w="472821" h="1301877">
                  <a:moveTo>
                    <a:pt x="0" y="0"/>
                  </a:moveTo>
                  <a:lnTo>
                    <a:pt x="472821" y="0"/>
                  </a:lnTo>
                  <a:lnTo>
                    <a:pt x="472821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966960" y="4754880"/>
            <a:ext cx="2194560" cy="457200"/>
            <a:chOff x="0" y="0"/>
            <a:chExt cx="2926080" cy="609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926080" cy="609600"/>
            </a:xfrm>
            <a:custGeom>
              <a:avLst/>
              <a:gdLst/>
              <a:ahLst/>
              <a:cxnLst/>
              <a:rect l="l" t="t" r="r" b="b"/>
              <a:pathLst>
                <a:path w="2926080" h="60960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92608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 Do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966960" y="5193792"/>
            <a:ext cx="6949440" cy="438912"/>
            <a:chOff x="0" y="0"/>
            <a:chExt cx="9265920" cy="5852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265920" cy="585216"/>
            </a:xfrm>
            <a:custGeom>
              <a:avLst/>
              <a:gdLst/>
              <a:ahLst/>
              <a:cxnLst/>
              <a:rect l="l" t="t" r="r" b="b"/>
              <a:pathLst>
                <a:path w="9265920" h="585216">
                  <a:moveTo>
                    <a:pt x="0" y="0"/>
                  </a:moveTo>
                  <a:lnTo>
                    <a:pt x="9265920" y="0"/>
                  </a:lnTo>
                  <a:lnTo>
                    <a:pt x="926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513" b="-25851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926592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Actividades listas para desarrollar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97063" y="5949191"/>
            <a:ext cx="354587" cy="976379"/>
            <a:chOff x="0" y="0"/>
            <a:chExt cx="472783" cy="130183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2821" cy="1301877"/>
            </a:xfrm>
            <a:custGeom>
              <a:avLst/>
              <a:gdLst/>
              <a:ahLst/>
              <a:cxnLst/>
              <a:rect l="l" t="t" r="r" b="b"/>
              <a:pathLst>
                <a:path w="472821" h="1301877">
                  <a:moveTo>
                    <a:pt x="0" y="0"/>
                  </a:moveTo>
                  <a:lnTo>
                    <a:pt x="472821" y="0"/>
                  </a:lnTo>
                  <a:lnTo>
                    <a:pt x="472821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66960" y="5998464"/>
            <a:ext cx="2194560" cy="457200"/>
            <a:chOff x="0" y="0"/>
            <a:chExt cx="2926080" cy="6096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926080" cy="609600"/>
            </a:xfrm>
            <a:custGeom>
              <a:avLst/>
              <a:gdLst/>
              <a:ahLst/>
              <a:cxnLst/>
              <a:rect l="l" t="t" r="r" b="b"/>
              <a:pathLst>
                <a:path w="2926080" h="60960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292608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 Progress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66960" y="6437376"/>
            <a:ext cx="6949440" cy="438912"/>
            <a:chOff x="0" y="0"/>
            <a:chExt cx="9265920" cy="5852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265920" cy="585216"/>
            </a:xfrm>
            <a:custGeom>
              <a:avLst/>
              <a:gdLst/>
              <a:ahLst/>
              <a:cxnLst/>
              <a:rect l="l" t="t" r="r" b="b"/>
              <a:pathLst>
                <a:path w="9265920" h="585216">
                  <a:moveTo>
                    <a:pt x="0" y="0"/>
                  </a:moveTo>
                  <a:lnTo>
                    <a:pt x="9265920" y="0"/>
                  </a:lnTo>
                  <a:lnTo>
                    <a:pt x="926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513" b="-25851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26592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Tareas en desarrollo actualmente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497063" y="7192775"/>
            <a:ext cx="354587" cy="976379"/>
            <a:chOff x="0" y="0"/>
            <a:chExt cx="472783" cy="13018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72821" cy="1301877"/>
            </a:xfrm>
            <a:custGeom>
              <a:avLst/>
              <a:gdLst/>
              <a:ahLst/>
              <a:cxnLst/>
              <a:rect l="l" t="t" r="r" b="b"/>
              <a:pathLst>
                <a:path w="472821" h="1301877">
                  <a:moveTo>
                    <a:pt x="0" y="0"/>
                  </a:moveTo>
                  <a:lnTo>
                    <a:pt x="472821" y="0"/>
                  </a:lnTo>
                  <a:lnTo>
                    <a:pt x="472821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8B5CF6"/>
            </a:solidFill>
            <a:ln w="25400" cap="sq">
              <a:solidFill>
                <a:srgbClr val="8B5CF6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66960" y="7242048"/>
            <a:ext cx="2194560" cy="457200"/>
            <a:chOff x="0" y="0"/>
            <a:chExt cx="2926080" cy="609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926080" cy="609600"/>
            </a:xfrm>
            <a:custGeom>
              <a:avLst/>
              <a:gdLst/>
              <a:ahLst/>
              <a:cxnLst/>
              <a:rect l="l" t="t" r="r" b="b"/>
              <a:pathLst>
                <a:path w="2926080" h="60960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92608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Review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966960" y="7680960"/>
            <a:ext cx="6949440" cy="438912"/>
            <a:chOff x="0" y="0"/>
            <a:chExt cx="9265920" cy="58521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265920" cy="585216"/>
            </a:xfrm>
            <a:custGeom>
              <a:avLst/>
              <a:gdLst/>
              <a:ahLst/>
              <a:cxnLst/>
              <a:rect l="l" t="t" r="r" b="b"/>
              <a:pathLst>
                <a:path w="9265920" h="585216">
                  <a:moveTo>
                    <a:pt x="0" y="0"/>
                  </a:moveTo>
                  <a:lnTo>
                    <a:pt x="9265920" y="0"/>
                  </a:lnTo>
                  <a:lnTo>
                    <a:pt x="926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513" b="-25851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926592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Tareas terminadas en revisión vía Pull Request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497063" y="8436359"/>
            <a:ext cx="354587" cy="976379"/>
            <a:chOff x="0" y="0"/>
            <a:chExt cx="472783" cy="130183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72821" cy="1301877"/>
            </a:xfrm>
            <a:custGeom>
              <a:avLst/>
              <a:gdLst/>
              <a:ahLst/>
              <a:cxnLst/>
              <a:rect l="l" t="t" r="r" b="b"/>
              <a:pathLst>
                <a:path w="472821" h="1301877">
                  <a:moveTo>
                    <a:pt x="0" y="0"/>
                  </a:moveTo>
                  <a:lnTo>
                    <a:pt x="472821" y="0"/>
                  </a:lnTo>
                  <a:lnTo>
                    <a:pt x="472821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966960" y="8485632"/>
            <a:ext cx="2194560" cy="457200"/>
            <a:chOff x="0" y="0"/>
            <a:chExt cx="2926080" cy="6096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926080" cy="609600"/>
            </a:xfrm>
            <a:custGeom>
              <a:avLst/>
              <a:gdLst/>
              <a:ahLst/>
              <a:cxnLst/>
              <a:rect l="l" t="t" r="r" b="b"/>
              <a:pathLst>
                <a:path w="2926080" h="60960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92608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966960" y="8924544"/>
            <a:ext cx="6949440" cy="438912"/>
            <a:chOff x="0" y="0"/>
            <a:chExt cx="9265920" cy="58521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265920" cy="585216"/>
            </a:xfrm>
            <a:custGeom>
              <a:avLst/>
              <a:gdLst/>
              <a:ahLst/>
              <a:cxnLst/>
              <a:rect l="l" t="t" r="r" b="b"/>
              <a:pathLst>
                <a:path w="9265920" h="585216">
                  <a:moveTo>
                    <a:pt x="0" y="0"/>
                  </a:moveTo>
                  <a:lnTo>
                    <a:pt x="9265920" y="0"/>
                  </a:lnTo>
                  <a:lnTo>
                    <a:pt x="926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513" b="-25851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926592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Tareas completamente finalizadas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Gestión Ágil – Kanban + Issues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50171" y="1963026"/>
            <a:ext cx="11570684" cy="938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Configurar el tablero en </a:t>
            </a:r>
            <a:r>
              <a:rPr lang="en-US" sz="2400" u="sng">
                <a:solidFill>
                  <a:srgbClr val="0563C1"/>
                </a:solidFill>
                <a:latin typeface="Verdana"/>
                <a:ea typeface="Verdana"/>
                <a:cs typeface="Verdana"/>
                <a:sym typeface="Verdana"/>
                <a:hlinkClick r:id="rId4" tooltip="https://github.com/features/issues?utm_source=chatgpt.com"/>
              </a:rPr>
              <a:t>GitHub Projects</a:t>
            </a:r>
            <a:r>
              <a:rPr lang="en-US" sz="2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 Se creó un tablero dentro del repositorio del proyecto utilizando GitHub Projects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737876" y="3165272"/>
            <a:ext cx="13228958" cy="6938848"/>
            <a:chOff x="0" y="0"/>
            <a:chExt cx="17638611" cy="92517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638649" cy="9251823"/>
            </a:xfrm>
            <a:custGeom>
              <a:avLst/>
              <a:gdLst/>
              <a:ahLst/>
              <a:cxnLst/>
              <a:rect l="l" t="t" r="r" b="b"/>
              <a:pathLst>
                <a:path w="17638649" h="9251823">
                  <a:moveTo>
                    <a:pt x="0" y="0"/>
                  </a:moveTo>
                  <a:lnTo>
                    <a:pt x="17638649" y="0"/>
                  </a:lnTo>
                  <a:lnTo>
                    <a:pt x="17638649" y="9251823"/>
                  </a:lnTo>
                  <a:lnTo>
                    <a:pt x="0" y="925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39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Gestión Ágil – Kanban + Issues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411" y="2004012"/>
            <a:ext cx="6801726" cy="1835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Crear Issues para cada tarea.  Se generaron distintos Issue para representar las tareas pendientes del sistema.</a:t>
            </a:r>
          </a:p>
          <a:p>
            <a:pPr marL="579120" lvl="1" indent="-289560" algn="l">
              <a:lnSpc>
                <a:spcPts val="3311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32115" y="3673173"/>
            <a:ext cx="7575452" cy="2938643"/>
            <a:chOff x="0" y="0"/>
            <a:chExt cx="10100602" cy="39181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00564" cy="3918204"/>
            </a:xfrm>
            <a:custGeom>
              <a:avLst/>
              <a:gdLst/>
              <a:ahLst/>
              <a:cxnLst/>
              <a:rect l="l" t="t" r="r" b="b"/>
              <a:pathLst>
                <a:path w="10100564" h="3918204">
                  <a:moveTo>
                    <a:pt x="0" y="0"/>
                  </a:moveTo>
                  <a:lnTo>
                    <a:pt x="10100564" y="0"/>
                  </a:lnTo>
                  <a:lnTo>
                    <a:pt x="10100564" y="3918204"/>
                  </a:lnTo>
                  <a:lnTo>
                    <a:pt x="0" y="3918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4038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4411" y="6958470"/>
            <a:ext cx="6829863" cy="227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Asignar responsables. Cada tarea fue asignada a un integrante del equipo mediante la opción de Assignees de GitHub. Esto permitió establecer responsabilidades claras y mejorar la coordinación entre los miembros del grupo. </a:t>
            </a:r>
          </a:p>
        </p:txBody>
      </p:sp>
      <p:sp>
        <p:nvSpPr>
          <p:cNvPr id="11" name="AutoShape 11"/>
          <p:cNvSpPr/>
          <p:nvPr/>
        </p:nvSpPr>
        <p:spPr>
          <a:xfrm rot="5383140">
            <a:off x="4292651" y="6018486"/>
            <a:ext cx="77613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Box 12"/>
          <p:cNvSpPr txBox="1"/>
          <p:nvPr/>
        </p:nvSpPr>
        <p:spPr>
          <a:xfrm>
            <a:off x="9235440" y="1915401"/>
            <a:ext cx="7047909" cy="100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Verificar que cada Pull Request cierre automáticamente un Issue usando:  Closes #9-12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35440" y="2924651"/>
            <a:ext cx="8975188" cy="57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Evidencia de tareas en Done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539086" y="4185714"/>
            <a:ext cx="9516799" cy="5104209"/>
            <a:chOff x="0" y="0"/>
            <a:chExt cx="12689065" cy="68056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689078" cy="6805676"/>
            </a:xfrm>
            <a:custGeom>
              <a:avLst/>
              <a:gdLst/>
              <a:ahLst/>
              <a:cxnLst/>
              <a:rect l="l" t="t" r="r" b="b"/>
              <a:pathLst>
                <a:path w="12689078" h="6805676">
                  <a:moveTo>
                    <a:pt x="0" y="0"/>
                  </a:moveTo>
                  <a:lnTo>
                    <a:pt x="12689078" y="0"/>
                  </a:lnTo>
                  <a:lnTo>
                    <a:pt x="12689078" y="6805676"/>
                  </a:lnTo>
                  <a:lnTo>
                    <a:pt x="0" y="6805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7624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Módulo Productos REST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2011680"/>
            <a:ext cx="16824960" cy="640080"/>
            <a:chOff x="0" y="0"/>
            <a:chExt cx="2243328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Responsable: Uriel Vasquez Quispe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03303" y="1998983"/>
            <a:ext cx="3865883" cy="665483"/>
            <a:chOff x="0" y="0"/>
            <a:chExt cx="5154511" cy="8873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154549" cy="887349"/>
            </a:xfrm>
            <a:custGeom>
              <a:avLst/>
              <a:gdLst/>
              <a:ahLst/>
              <a:cxnLst/>
              <a:rect l="l" t="t" r="r" b="b"/>
              <a:pathLst>
                <a:path w="5154549" h="887349">
                  <a:moveTo>
                    <a:pt x="0" y="0"/>
                  </a:moveTo>
                  <a:lnTo>
                    <a:pt x="5154549" y="0"/>
                  </a:lnTo>
                  <a:lnTo>
                    <a:pt x="515454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CCFBF1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16000" y="2011680"/>
            <a:ext cx="3840480" cy="640080"/>
            <a:chOff x="0" y="0"/>
            <a:chExt cx="5120640" cy="853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120640" cy="853440"/>
            </a:xfrm>
            <a:custGeom>
              <a:avLst/>
              <a:gdLst/>
              <a:ahLst/>
              <a:cxnLst/>
              <a:rect l="l" t="t" r="r" b="b"/>
              <a:pathLst>
                <a:path w="5120640" h="8534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1206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Spring Boot + REST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31520" y="2834640"/>
            <a:ext cx="16824960" cy="731520"/>
            <a:chOff x="0" y="0"/>
            <a:chExt cx="22433280" cy="9753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433280" cy="975360"/>
            </a:xfrm>
            <a:custGeom>
              <a:avLst/>
              <a:gdLst/>
              <a:ahLst/>
              <a:cxnLst/>
              <a:rect l="l" t="t" r="r" b="b"/>
              <a:pathLst>
                <a:path w="22433280" h="97536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8155" b="-39815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243328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Funcionalidad: CRUD completo (Crear, Leer, Actualizar, Eliminar) de productos.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8823" y="3736343"/>
            <a:ext cx="8255003" cy="1634747"/>
            <a:chOff x="0" y="0"/>
            <a:chExt cx="11006671" cy="217966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006709" cy="2179701"/>
            </a:xfrm>
            <a:custGeom>
              <a:avLst/>
              <a:gdLst/>
              <a:ahLst/>
              <a:cxnLst/>
              <a:rect l="l" t="t" r="r" b="b"/>
              <a:pathLst>
                <a:path w="11006709" h="2179701">
                  <a:moveTo>
                    <a:pt x="0" y="0"/>
                  </a:moveTo>
                  <a:lnTo>
                    <a:pt x="11006709" y="0"/>
                  </a:lnTo>
                  <a:lnTo>
                    <a:pt x="1100670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3931920"/>
            <a:ext cx="694944" cy="694944"/>
            <a:chOff x="0" y="0"/>
            <a:chExt cx="926592" cy="926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37360" y="3931920"/>
            <a:ext cx="7040880" cy="1280160"/>
            <a:chOff x="0" y="0"/>
            <a:chExt cx="9387840" cy="17068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387840" cy="1706880"/>
            </a:xfrm>
            <a:custGeom>
              <a:avLst/>
              <a:gdLst/>
              <a:ahLst/>
              <a:cxnLst/>
              <a:rect l="l" t="t" r="r" b="b"/>
              <a:pathLst>
                <a:path w="9387840" h="1706880">
                  <a:moveTo>
                    <a:pt x="0" y="0"/>
                  </a:moveTo>
                  <a:lnTo>
                    <a:pt x="9387840" y="0"/>
                  </a:lnTo>
                  <a:lnTo>
                    <a:pt x="93878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387840" cy="174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Creación de archivos del módulo en Visual Studio Code (src/)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97063" y="3736343"/>
            <a:ext cx="8255003" cy="1634747"/>
            <a:chOff x="0" y="0"/>
            <a:chExt cx="11006671" cy="217966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006709" cy="2179701"/>
            </a:xfrm>
            <a:custGeom>
              <a:avLst/>
              <a:gdLst/>
              <a:ahLst/>
              <a:cxnLst/>
              <a:rect l="l" t="t" r="r" b="b"/>
              <a:pathLst>
                <a:path w="11006709" h="2179701">
                  <a:moveTo>
                    <a:pt x="0" y="0"/>
                  </a:moveTo>
                  <a:lnTo>
                    <a:pt x="11006709" y="0"/>
                  </a:lnTo>
                  <a:lnTo>
                    <a:pt x="1100670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92640" y="3931920"/>
            <a:ext cx="694944" cy="694944"/>
            <a:chOff x="0" y="0"/>
            <a:chExt cx="926592" cy="9265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515600" y="3931920"/>
            <a:ext cx="7040880" cy="1280160"/>
            <a:chOff x="0" y="0"/>
            <a:chExt cx="9387840" cy="17068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387840" cy="1706880"/>
            </a:xfrm>
            <a:custGeom>
              <a:avLst/>
              <a:gdLst/>
              <a:ahLst/>
              <a:cxnLst/>
              <a:rect l="l" t="t" r="r" b="b"/>
              <a:pathLst>
                <a:path w="9387840" h="1706880">
                  <a:moveTo>
                    <a:pt x="0" y="0"/>
                  </a:moveTo>
                  <a:lnTo>
                    <a:pt x="9387840" y="0"/>
                  </a:lnTo>
                  <a:lnTo>
                    <a:pt x="93878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9387840" cy="174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Uso de Git Bash → creación de rama: feature/productos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18823" y="5656583"/>
            <a:ext cx="8255003" cy="1634747"/>
            <a:chOff x="0" y="0"/>
            <a:chExt cx="11006671" cy="217966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006709" cy="2179701"/>
            </a:xfrm>
            <a:custGeom>
              <a:avLst/>
              <a:gdLst/>
              <a:ahLst/>
              <a:cxnLst/>
              <a:rect l="l" t="t" r="r" b="b"/>
              <a:pathLst>
                <a:path w="11006709" h="2179701">
                  <a:moveTo>
                    <a:pt x="0" y="0"/>
                  </a:moveTo>
                  <a:lnTo>
                    <a:pt x="11006709" y="0"/>
                  </a:lnTo>
                  <a:lnTo>
                    <a:pt x="1100670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4400" y="5852160"/>
            <a:ext cx="694944" cy="694944"/>
            <a:chOff x="0" y="0"/>
            <a:chExt cx="926592" cy="9265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737360" y="5852160"/>
            <a:ext cx="7040880" cy="1280160"/>
            <a:chOff x="0" y="0"/>
            <a:chExt cx="9387840" cy="17068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387840" cy="1706880"/>
            </a:xfrm>
            <a:custGeom>
              <a:avLst/>
              <a:gdLst/>
              <a:ahLst/>
              <a:cxnLst/>
              <a:rect l="l" t="t" r="r" b="b"/>
              <a:pathLst>
                <a:path w="9387840" h="1706880">
                  <a:moveTo>
                    <a:pt x="0" y="0"/>
                  </a:moveTo>
                  <a:lnTo>
                    <a:pt x="9387840" y="0"/>
                  </a:lnTo>
                  <a:lnTo>
                    <a:pt x="93878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9387840" cy="174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status → git add . → git commit -m → git push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497063" y="5656583"/>
            <a:ext cx="8255003" cy="1634747"/>
            <a:chOff x="0" y="0"/>
            <a:chExt cx="11006671" cy="217966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006709" cy="2179701"/>
            </a:xfrm>
            <a:custGeom>
              <a:avLst/>
              <a:gdLst/>
              <a:ahLst/>
              <a:cxnLst/>
              <a:rect l="l" t="t" r="r" b="b"/>
              <a:pathLst>
                <a:path w="11006709" h="2179701">
                  <a:moveTo>
                    <a:pt x="0" y="0"/>
                  </a:moveTo>
                  <a:lnTo>
                    <a:pt x="11006709" y="0"/>
                  </a:lnTo>
                  <a:lnTo>
                    <a:pt x="1100670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92640" y="5852160"/>
            <a:ext cx="694944" cy="694944"/>
            <a:chOff x="0" y="0"/>
            <a:chExt cx="926592" cy="9265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515600" y="5852160"/>
            <a:ext cx="7040880" cy="1280160"/>
            <a:chOff x="0" y="0"/>
            <a:chExt cx="9387840" cy="17068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387840" cy="1706880"/>
            </a:xfrm>
            <a:custGeom>
              <a:avLst/>
              <a:gdLst/>
              <a:ahLst/>
              <a:cxnLst/>
              <a:rect l="l" t="t" r="r" b="b"/>
              <a:pathLst>
                <a:path w="9387840" h="1706880">
                  <a:moveTo>
                    <a:pt x="0" y="0"/>
                  </a:moveTo>
                  <a:lnTo>
                    <a:pt x="9387840" y="0"/>
                  </a:lnTo>
                  <a:lnTo>
                    <a:pt x="93878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9387840" cy="174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Apertura de Pull Request con descripción: Closes #9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18823" y="7576823"/>
            <a:ext cx="8255003" cy="1634747"/>
            <a:chOff x="0" y="0"/>
            <a:chExt cx="11006671" cy="217966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006709" cy="2179701"/>
            </a:xfrm>
            <a:custGeom>
              <a:avLst/>
              <a:gdLst/>
              <a:ahLst/>
              <a:cxnLst/>
              <a:rect l="l" t="t" r="r" b="b"/>
              <a:pathLst>
                <a:path w="11006709" h="2179701">
                  <a:moveTo>
                    <a:pt x="0" y="0"/>
                  </a:moveTo>
                  <a:lnTo>
                    <a:pt x="11006709" y="0"/>
                  </a:lnTo>
                  <a:lnTo>
                    <a:pt x="1100670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14400" y="7772400"/>
            <a:ext cx="694944" cy="694944"/>
            <a:chOff x="0" y="0"/>
            <a:chExt cx="926592" cy="92659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737360" y="7772400"/>
            <a:ext cx="7040880" cy="1280160"/>
            <a:chOff x="0" y="0"/>
            <a:chExt cx="9387840" cy="170688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9387840" cy="1706880"/>
            </a:xfrm>
            <a:custGeom>
              <a:avLst/>
              <a:gdLst/>
              <a:ahLst/>
              <a:cxnLst/>
              <a:rect l="l" t="t" r="r" b="b"/>
              <a:pathLst>
                <a:path w="9387840" h="1706880">
                  <a:moveTo>
                    <a:pt x="0" y="0"/>
                  </a:moveTo>
                  <a:lnTo>
                    <a:pt x="9387840" y="0"/>
                  </a:lnTo>
                  <a:lnTo>
                    <a:pt x="93878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9387840" cy="174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Merge exitoso de feature/productos → main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497063" y="7576823"/>
            <a:ext cx="8255003" cy="1634747"/>
            <a:chOff x="0" y="0"/>
            <a:chExt cx="11006671" cy="2179663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006709" cy="2179701"/>
            </a:xfrm>
            <a:custGeom>
              <a:avLst/>
              <a:gdLst/>
              <a:ahLst/>
              <a:cxnLst/>
              <a:rect l="l" t="t" r="r" b="b"/>
              <a:pathLst>
                <a:path w="11006709" h="2179701">
                  <a:moveTo>
                    <a:pt x="0" y="0"/>
                  </a:moveTo>
                  <a:lnTo>
                    <a:pt x="11006709" y="0"/>
                  </a:lnTo>
                  <a:lnTo>
                    <a:pt x="1100670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ECFDF5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692640" y="7772400"/>
            <a:ext cx="694944" cy="694944"/>
            <a:chOff x="0" y="0"/>
            <a:chExt cx="926592" cy="92659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515600" y="7772400"/>
            <a:ext cx="7040880" cy="1280160"/>
            <a:chOff x="0" y="0"/>
            <a:chExt cx="9387840" cy="170688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387840" cy="1706880"/>
            </a:xfrm>
            <a:custGeom>
              <a:avLst/>
              <a:gdLst/>
              <a:ahLst/>
              <a:cxnLst/>
              <a:rect l="l" t="t" r="r" b="b"/>
              <a:pathLst>
                <a:path w="9387840" h="1706880">
                  <a:moveTo>
                    <a:pt x="0" y="0"/>
                  </a:moveTo>
                  <a:lnTo>
                    <a:pt x="9387840" y="0"/>
                  </a:lnTo>
                  <a:lnTo>
                    <a:pt x="93878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9387840" cy="174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Issue #9 en estado Done en el tablero Kanban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Módulo Productos REST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" y="2080917"/>
            <a:ext cx="5303520" cy="142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 primer lugar, se crearon primero los archivos del módulo REST de productos en vsc.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31520" y="3755584"/>
            <a:ext cx="4139613" cy="6165656"/>
            <a:chOff x="0" y="0"/>
            <a:chExt cx="5519484" cy="82208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19547" cy="8220837"/>
            </a:xfrm>
            <a:custGeom>
              <a:avLst/>
              <a:gdLst/>
              <a:ahLst/>
              <a:cxnLst/>
              <a:rect l="l" t="t" r="r" b="b"/>
              <a:pathLst>
                <a:path w="5519547" h="8220837">
                  <a:moveTo>
                    <a:pt x="0" y="0"/>
                  </a:moveTo>
                  <a:lnTo>
                    <a:pt x="5519547" y="0"/>
                  </a:lnTo>
                  <a:lnTo>
                    <a:pt x="5519547" y="8220837"/>
                  </a:lnTo>
                  <a:lnTo>
                    <a:pt x="0" y="8220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-16044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667423" y="2080917"/>
            <a:ext cx="5303520" cy="227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Después de realizar el desarrollo del módulo, utilizamos git bash para poder crear la rama feature/productos donde se subirá el archivo y los cambios realizados.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605977" y="4891964"/>
            <a:ext cx="5721839" cy="2743791"/>
            <a:chOff x="0" y="0"/>
            <a:chExt cx="7629119" cy="36583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9144" cy="3658362"/>
            </a:xfrm>
            <a:custGeom>
              <a:avLst/>
              <a:gdLst/>
              <a:ahLst/>
              <a:cxnLst/>
              <a:rect l="l" t="t" r="r" b="b"/>
              <a:pathLst>
                <a:path w="7629144" h="3658362">
                  <a:moveTo>
                    <a:pt x="0" y="0"/>
                  </a:moveTo>
                  <a:lnTo>
                    <a:pt x="7629144" y="0"/>
                  </a:lnTo>
                  <a:lnTo>
                    <a:pt x="7629144" y="3658362"/>
                  </a:lnTo>
                  <a:lnTo>
                    <a:pt x="0" y="3658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39421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760584" y="2084632"/>
            <a:ext cx="5465302" cy="142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escribió el comando git status para verificar los archivos que se han modificado.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528469" y="4060146"/>
            <a:ext cx="6618856" cy="5276355"/>
            <a:chOff x="0" y="0"/>
            <a:chExt cx="8825141" cy="70351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25103" cy="7035165"/>
            </a:xfrm>
            <a:custGeom>
              <a:avLst/>
              <a:gdLst/>
              <a:ahLst/>
              <a:cxnLst/>
              <a:rect l="l" t="t" r="r" b="b"/>
              <a:pathLst>
                <a:path w="8825103" h="7035165">
                  <a:moveTo>
                    <a:pt x="0" y="0"/>
                  </a:moveTo>
                  <a:lnTo>
                    <a:pt x="8825103" y="0"/>
                  </a:lnTo>
                  <a:lnTo>
                    <a:pt x="8825103" y="7035165"/>
                  </a:lnTo>
                  <a:lnTo>
                    <a:pt x="0" y="7035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714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6" name="AutoShape 16"/>
          <p:cNvSpPr/>
          <p:nvPr/>
        </p:nvSpPr>
        <p:spPr>
          <a:xfrm rot="5383140">
            <a:off x="1605724" y="5972975"/>
            <a:ext cx="77613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17" name="AutoShape 17"/>
          <p:cNvSpPr/>
          <p:nvPr/>
        </p:nvSpPr>
        <p:spPr>
          <a:xfrm rot="5383140">
            <a:off x="7528217" y="5972975"/>
            <a:ext cx="77613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Módulo Productos REST</a:t>
              </a:r>
            </a:p>
          </p:txBody>
        </p:sp>
      </p:grpSp>
      <p:sp>
        <p:nvSpPr>
          <p:cNvPr id="7" name="AutoShape 7"/>
          <p:cNvSpPr/>
          <p:nvPr/>
        </p:nvSpPr>
        <p:spPr>
          <a:xfrm rot="5383140">
            <a:off x="3037427" y="5976699"/>
            <a:ext cx="77613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Box 8"/>
          <p:cNvSpPr txBox="1"/>
          <p:nvPr/>
        </p:nvSpPr>
        <p:spPr>
          <a:xfrm>
            <a:off x="225085" y="2080917"/>
            <a:ext cx="5080302" cy="227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uso git add . para agregar los cambios realizados , luego git commit -m para avisar el cambio realizado y por último git push para subir.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3645" y="4480198"/>
            <a:ext cx="6639925" cy="5316407"/>
            <a:chOff x="0" y="0"/>
            <a:chExt cx="8853234" cy="70885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53297" cy="7088505"/>
            </a:xfrm>
            <a:custGeom>
              <a:avLst/>
              <a:gdLst/>
              <a:ahLst/>
              <a:cxnLst/>
              <a:rect l="l" t="t" r="r" b="b"/>
              <a:pathLst>
                <a:path w="8853297" h="7088505">
                  <a:moveTo>
                    <a:pt x="0" y="0"/>
                  </a:moveTo>
                  <a:lnTo>
                    <a:pt x="8853297" y="0"/>
                  </a:lnTo>
                  <a:lnTo>
                    <a:pt x="8853297" y="7088505"/>
                  </a:lnTo>
                  <a:lnTo>
                    <a:pt x="0" y="70885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647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009543" y="2084632"/>
            <a:ext cx="3144155" cy="270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 el repositorio GitHub aplicamos el pull request , en su descripcion escribimos Closes #9.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846537" y="2009070"/>
            <a:ext cx="7026840" cy="4354316"/>
            <a:chOff x="0" y="0"/>
            <a:chExt cx="9369120" cy="58057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69171" cy="5805805"/>
            </a:xfrm>
            <a:custGeom>
              <a:avLst/>
              <a:gdLst/>
              <a:ahLst/>
              <a:cxnLst/>
              <a:rect l="l" t="t" r="r" b="b"/>
              <a:pathLst>
                <a:path w="9369171" h="5805805">
                  <a:moveTo>
                    <a:pt x="0" y="0"/>
                  </a:moveTo>
                  <a:lnTo>
                    <a:pt x="9369171" y="0"/>
                  </a:lnTo>
                  <a:lnTo>
                    <a:pt x="9369171" y="5805805"/>
                  </a:lnTo>
                  <a:lnTo>
                    <a:pt x="0" y="5805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3147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928314" y="5824499"/>
            <a:ext cx="3545796" cy="2907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</a:t>
            </a:r>
          </a:p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Luego de ellos, se realizó un merge para fusionar la rama feature/productos con el main.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453011" y="6452206"/>
            <a:ext cx="7588806" cy="3739867"/>
            <a:chOff x="0" y="0"/>
            <a:chExt cx="10118408" cy="49864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18344" cy="4986528"/>
            </a:xfrm>
            <a:custGeom>
              <a:avLst/>
              <a:gdLst/>
              <a:ahLst/>
              <a:cxnLst/>
              <a:rect l="l" t="t" r="r" b="b"/>
              <a:pathLst>
                <a:path w="10118344" h="4986528">
                  <a:moveTo>
                    <a:pt x="0" y="0"/>
                  </a:moveTo>
                  <a:lnTo>
                    <a:pt x="10118344" y="0"/>
                  </a:lnTo>
                  <a:lnTo>
                    <a:pt x="10118344" y="4986528"/>
                  </a:lnTo>
                  <a:lnTo>
                    <a:pt x="0" y="4986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8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Módulo Productos REST</a:t>
              </a:r>
            </a:p>
          </p:txBody>
        </p:sp>
      </p:grpSp>
      <p:sp>
        <p:nvSpPr>
          <p:cNvPr id="7" name="AutoShape 7"/>
          <p:cNvSpPr/>
          <p:nvPr/>
        </p:nvSpPr>
        <p:spPr>
          <a:xfrm rot="5383140">
            <a:off x="4669279" y="5976699"/>
            <a:ext cx="77613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Box 8"/>
          <p:cNvSpPr txBox="1"/>
          <p:nvPr/>
        </p:nvSpPr>
        <p:spPr>
          <a:xfrm>
            <a:off x="225085" y="2084632"/>
            <a:ext cx="5080302" cy="100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muestra que se realizó con éxito el merge pull request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91776" y="3714845"/>
            <a:ext cx="8159258" cy="4955877"/>
            <a:chOff x="0" y="0"/>
            <a:chExt cx="10879010" cy="66078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79074" cy="6607810"/>
            </a:xfrm>
            <a:custGeom>
              <a:avLst/>
              <a:gdLst/>
              <a:ahLst/>
              <a:cxnLst/>
              <a:rect l="l" t="t" r="r" b="b"/>
              <a:pathLst>
                <a:path w="10879074" h="6607810">
                  <a:moveTo>
                    <a:pt x="0" y="0"/>
                  </a:moveTo>
                  <a:lnTo>
                    <a:pt x="10879074" y="0"/>
                  </a:lnTo>
                  <a:lnTo>
                    <a:pt x="10879074" y="6607810"/>
                  </a:lnTo>
                  <a:lnTo>
                    <a:pt x="0" y="6607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715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15863" y="2060553"/>
            <a:ext cx="7969348" cy="142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 último, en el tablero kanban se muestra que la issue se encuentra en Done, lo que significa que la tarea ya se realizó.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748884" y="3907041"/>
            <a:ext cx="9458811" cy="4358535"/>
            <a:chOff x="0" y="0"/>
            <a:chExt cx="12611748" cy="58113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11735" cy="5811393"/>
            </a:xfrm>
            <a:custGeom>
              <a:avLst/>
              <a:gdLst/>
              <a:ahLst/>
              <a:cxnLst/>
              <a:rect l="l" t="t" r="r" b="b"/>
              <a:pathLst>
                <a:path w="12611735" h="5811393">
                  <a:moveTo>
                    <a:pt x="0" y="0"/>
                  </a:moveTo>
                  <a:lnTo>
                    <a:pt x="12611735" y="0"/>
                  </a:lnTo>
                  <a:lnTo>
                    <a:pt x="12611735" y="5811393"/>
                  </a:lnTo>
                  <a:lnTo>
                    <a:pt x="0" y="5811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8712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Módulo Ventas / Pedidos REST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2011680"/>
            <a:ext cx="16824960" cy="640080"/>
            <a:chOff x="0" y="0"/>
            <a:chExt cx="2243328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Responsable: Christian Rivas Aquino / David Jair Mendoza Figueroa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2834640"/>
            <a:ext cx="16824960" cy="731520"/>
            <a:chOff x="0" y="0"/>
            <a:chExt cx="22433280" cy="9753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975360"/>
            </a:xfrm>
            <a:custGeom>
              <a:avLst/>
              <a:gdLst/>
              <a:ahLst/>
              <a:cxnLst/>
              <a:rect l="l" t="t" r="r" b="b"/>
              <a:pathLst>
                <a:path w="22433280" h="97536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8155" b="-39815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43328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Funcionalidad: CRUD completo de ventas y pedidos con arquitectura REST y organización por capas.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18823" y="3736343"/>
            <a:ext cx="8255003" cy="1305563"/>
            <a:chOff x="0" y="0"/>
            <a:chExt cx="11006671" cy="17407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006709" cy="1740789"/>
            </a:xfrm>
            <a:custGeom>
              <a:avLst/>
              <a:gdLst/>
              <a:ahLst/>
              <a:cxnLst/>
              <a:rect l="l" t="t" r="r" b="b"/>
              <a:pathLst>
                <a:path w="11006709" h="1740789">
                  <a:moveTo>
                    <a:pt x="0" y="0"/>
                  </a:moveTo>
                  <a:lnTo>
                    <a:pt x="11006709" y="0"/>
                  </a:lnTo>
                  <a:lnTo>
                    <a:pt x="1100670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" y="3895344"/>
            <a:ext cx="640080" cy="640080"/>
            <a:chOff x="0" y="0"/>
            <a:chExt cx="853440" cy="853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53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82496" y="3895344"/>
            <a:ext cx="7040880" cy="1005840"/>
            <a:chOff x="0" y="0"/>
            <a:chExt cx="9387840" cy="13411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87840" cy="1341120"/>
            </a:xfrm>
            <a:custGeom>
              <a:avLst/>
              <a:gdLst/>
              <a:ahLst/>
              <a:cxnLst/>
              <a:rect l="l" t="t" r="r" b="b"/>
              <a:pathLst>
                <a:path w="9387840" h="134112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Archivos del módulo creados en VSCode (src/)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97063" y="3736343"/>
            <a:ext cx="8255003" cy="1305563"/>
            <a:chOff x="0" y="0"/>
            <a:chExt cx="11006671" cy="17407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006709" cy="1740789"/>
            </a:xfrm>
            <a:custGeom>
              <a:avLst/>
              <a:gdLst/>
              <a:ahLst/>
              <a:cxnLst/>
              <a:rect l="l" t="t" r="r" b="b"/>
              <a:pathLst>
                <a:path w="11006709" h="1740789">
                  <a:moveTo>
                    <a:pt x="0" y="0"/>
                  </a:moveTo>
                  <a:lnTo>
                    <a:pt x="11006709" y="0"/>
                  </a:lnTo>
                  <a:lnTo>
                    <a:pt x="1100670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92640" y="3895344"/>
            <a:ext cx="640080" cy="640080"/>
            <a:chOff x="0" y="0"/>
            <a:chExt cx="853440" cy="8534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853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60736" y="3895344"/>
            <a:ext cx="7040880" cy="1005840"/>
            <a:chOff x="0" y="0"/>
            <a:chExt cx="9387840" cy="1341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387840" cy="1341120"/>
            </a:xfrm>
            <a:custGeom>
              <a:avLst/>
              <a:gdLst/>
              <a:ahLst/>
              <a:cxnLst/>
              <a:rect l="l" t="t" r="r" b="b"/>
              <a:pathLst>
                <a:path w="9387840" h="134112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Creación de rama: feature/pedidos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18823" y="5235959"/>
            <a:ext cx="8255003" cy="1305563"/>
            <a:chOff x="0" y="0"/>
            <a:chExt cx="11006671" cy="174075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006709" cy="1740789"/>
            </a:xfrm>
            <a:custGeom>
              <a:avLst/>
              <a:gdLst/>
              <a:ahLst/>
              <a:cxnLst/>
              <a:rect l="l" t="t" r="r" b="b"/>
              <a:pathLst>
                <a:path w="11006709" h="1740789">
                  <a:moveTo>
                    <a:pt x="0" y="0"/>
                  </a:moveTo>
                  <a:lnTo>
                    <a:pt x="11006709" y="0"/>
                  </a:lnTo>
                  <a:lnTo>
                    <a:pt x="1100670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" y="5394960"/>
            <a:ext cx="640080" cy="640080"/>
            <a:chOff x="0" y="0"/>
            <a:chExt cx="853440" cy="8534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853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82496" y="5394960"/>
            <a:ext cx="7040880" cy="1005840"/>
            <a:chOff x="0" y="0"/>
            <a:chExt cx="9387840" cy="13411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387840" cy="1341120"/>
            </a:xfrm>
            <a:custGeom>
              <a:avLst/>
              <a:gdLst/>
              <a:ahLst/>
              <a:cxnLst/>
              <a:rect l="l" t="t" r="r" b="b"/>
              <a:pathLst>
                <a:path w="9387840" h="134112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checkout feature/pedidos para moverse a la rama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497063" y="5235959"/>
            <a:ext cx="8255003" cy="1305563"/>
            <a:chOff x="0" y="0"/>
            <a:chExt cx="11006671" cy="174075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006709" cy="1740789"/>
            </a:xfrm>
            <a:custGeom>
              <a:avLst/>
              <a:gdLst/>
              <a:ahLst/>
              <a:cxnLst/>
              <a:rect l="l" t="t" r="r" b="b"/>
              <a:pathLst>
                <a:path w="11006709" h="1740789">
                  <a:moveTo>
                    <a:pt x="0" y="0"/>
                  </a:moveTo>
                  <a:lnTo>
                    <a:pt x="11006709" y="0"/>
                  </a:lnTo>
                  <a:lnTo>
                    <a:pt x="1100670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692640" y="5394960"/>
            <a:ext cx="640080" cy="640080"/>
            <a:chOff x="0" y="0"/>
            <a:chExt cx="853440" cy="8534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853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460736" y="5394960"/>
            <a:ext cx="7040880" cy="1005840"/>
            <a:chOff x="0" y="0"/>
            <a:chExt cx="9387840" cy="13411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387840" cy="1341120"/>
            </a:xfrm>
            <a:custGeom>
              <a:avLst/>
              <a:gdLst/>
              <a:ahLst/>
              <a:cxnLst/>
              <a:rect l="l" t="t" r="r" b="b"/>
              <a:pathLst>
                <a:path w="9387840" h="134112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status → verificación de cambios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18823" y="6735575"/>
            <a:ext cx="8255003" cy="1305563"/>
            <a:chOff x="0" y="0"/>
            <a:chExt cx="11006671" cy="174075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006709" cy="1740789"/>
            </a:xfrm>
            <a:custGeom>
              <a:avLst/>
              <a:gdLst/>
              <a:ahLst/>
              <a:cxnLst/>
              <a:rect l="l" t="t" r="r" b="b"/>
              <a:pathLst>
                <a:path w="11006709" h="1740789">
                  <a:moveTo>
                    <a:pt x="0" y="0"/>
                  </a:moveTo>
                  <a:lnTo>
                    <a:pt x="11006709" y="0"/>
                  </a:lnTo>
                  <a:lnTo>
                    <a:pt x="1100670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14400" y="6894576"/>
            <a:ext cx="640080" cy="640080"/>
            <a:chOff x="0" y="0"/>
            <a:chExt cx="853440" cy="8534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853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682496" y="6894576"/>
            <a:ext cx="7040880" cy="1005840"/>
            <a:chOff x="0" y="0"/>
            <a:chExt cx="9387840" cy="13411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387840" cy="1341120"/>
            </a:xfrm>
            <a:custGeom>
              <a:avLst/>
              <a:gdLst/>
              <a:ahLst/>
              <a:cxnLst/>
              <a:rect l="l" t="t" r="r" b="b"/>
              <a:pathLst>
                <a:path w="9387840" h="134112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add . → git commit -m → git push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497063" y="6735575"/>
            <a:ext cx="8255003" cy="1305563"/>
            <a:chOff x="0" y="0"/>
            <a:chExt cx="11006671" cy="174075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006709" cy="1740789"/>
            </a:xfrm>
            <a:custGeom>
              <a:avLst/>
              <a:gdLst/>
              <a:ahLst/>
              <a:cxnLst/>
              <a:rect l="l" t="t" r="r" b="b"/>
              <a:pathLst>
                <a:path w="11006709" h="1740789">
                  <a:moveTo>
                    <a:pt x="0" y="0"/>
                  </a:moveTo>
                  <a:lnTo>
                    <a:pt x="11006709" y="0"/>
                  </a:lnTo>
                  <a:lnTo>
                    <a:pt x="1100670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692640" y="6894576"/>
            <a:ext cx="640080" cy="640080"/>
            <a:chOff x="0" y="0"/>
            <a:chExt cx="853440" cy="8534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853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460736" y="6894576"/>
            <a:ext cx="7040880" cy="1005840"/>
            <a:chOff x="0" y="0"/>
            <a:chExt cx="9387840" cy="13411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387840" cy="1341120"/>
            </a:xfrm>
            <a:custGeom>
              <a:avLst/>
              <a:gdLst/>
              <a:ahLst/>
              <a:cxnLst/>
              <a:rect l="l" t="t" r="r" b="b"/>
              <a:pathLst>
                <a:path w="9387840" h="134112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Pull Request con: Closes #10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18823" y="8235191"/>
            <a:ext cx="8255003" cy="1305563"/>
            <a:chOff x="0" y="0"/>
            <a:chExt cx="11006671" cy="174075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006709" cy="1740789"/>
            </a:xfrm>
            <a:custGeom>
              <a:avLst/>
              <a:gdLst/>
              <a:ahLst/>
              <a:cxnLst/>
              <a:rect l="l" t="t" r="r" b="b"/>
              <a:pathLst>
                <a:path w="11006709" h="1740789">
                  <a:moveTo>
                    <a:pt x="0" y="0"/>
                  </a:moveTo>
                  <a:lnTo>
                    <a:pt x="11006709" y="0"/>
                  </a:lnTo>
                  <a:lnTo>
                    <a:pt x="1100670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14400" y="8394192"/>
            <a:ext cx="640080" cy="640080"/>
            <a:chOff x="0" y="0"/>
            <a:chExt cx="853440" cy="8534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853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682496" y="8394192"/>
            <a:ext cx="7040880" cy="1005840"/>
            <a:chOff x="0" y="0"/>
            <a:chExt cx="9387840" cy="13411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387840" cy="1341120"/>
            </a:xfrm>
            <a:custGeom>
              <a:avLst/>
              <a:gdLst/>
              <a:ahLst/>
              <a:cxnLst/>
              <a:rect l="l" t="t" r="r" b="b"/>
              <a:pathLst>
                <a:path w="9387840" h="134112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Merge feature/pedidos → main exitoso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497063" y="8235191"/>
            <a:ext cx="8255003" cy="1305563"/>
            <a:chOff x="0" y="0"/>
            <a:chExt cx="11006671" cy="174075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1006709" cy="1740789"/>
            </a:xfrm>
            <a:custGeom>
              <a:avLst/>
              <a:gdLst/>
              <a:ahLst/>
              <a:cxnLst/>
              <a:rect l="l" t="t" r="r" b="b"/>
              <a:pathLst>
                <a:path w="11006709" h="1740789">
                  <a:moveTo>
                    <a:pt x="0" y="0"/>
                  </a:moveTo>
                  <a:lnTo>
                    <a:pt x="11006709" y="0"/>
                  </a:lnTo>
                  <a:lnTo>
                    <a:pt x="1100670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ECFDF5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692640" y="8394192"/>
            <a:ext cx="640080" cy="640080"/>
            <a:chOff x="0" y="0"/>
            <a:chExt cx="853440" cy="8534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53440" cy="853440"/>
            </a:xfrm>
            <a:custGeom>
              <a:avLst/>
              <a:gdLst/>
              <a:ahLst/>
              <a:cxnLst/>
              <a:rect l="l" t="t" r="r" b="b"/>
              <a:pathLst>
                <a:path w="853440" h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853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460736" y="8394192"/>
            <a:ext cx="7040880" cy="1005840"/>
            <a:chOff x="0" y="0"/>
            <a:chExt cx="9387840" cy="13411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9387840" cy="1341120"/>
            </a:xfrm>
            <a:custGeom>
              <a:avLst/>
              <a:gdLst/>
              <a:ahLst/>
              <a:cxnLst/>
              <a:rect l="l" t="t" r="r" b="b"/>
              <a:pathLst>
                <a:path w="9387840" h="134112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Issue #10 en estado Done en Kanban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Módulo Ventas / Pedidos REST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20040" y="1969894"/>
            <a:ext cx="4568485" cy="185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 primer lugar, se crearon primero los archivos del módulo REST de ventas(pedidos) en vsc.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54148" y="3958276"/>
            <a:ext cx="4016331" cy="6052623"/>
            <a:chOff x="0" y="0"/>
            <a:chExt cx="5355107" cy="80701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55082" cy="8070215"/>
            </a:xfrm>
            <a:custGeom>
              <a:avLst/>
              <a:gdLst/>
              <a:ahLst/>
              <a:cxnLst/>
              <a:rect l="l" t="t" r="r" b="b"/>
              <a:pathLst>
                <a:path w="5355082" h="8070215">
                  <a:moveTo>
                    <a:pt x="0" y="0"/>
                  </a:moveTo>
                  <a:lnTo>
                    <a:pt x="5355082" y="0"/>
                  </a:lnTo>
                  <a:lnTo>
                    <a:pt x="5355082" y="8070215"/>
                  </a:lnTo>
                  <a:lnTo>
                    <a:pt x="0" y="8070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469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219109" y="2007451"/>
            <a:ext cx="5416058" cy="227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Después de realizar el desarrollo del módulo, utilizamos git bash para poder crear la rama feature/pedidos donde se subirá el archivo y los cambios realizados.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036103" y="2047456"/>
            <a:ext cx="6787658" cy="1686068"/>
            <a:chOff x="0" y="0"/>
            <a:chExt cx="9050210" cy="22480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50274" cy="2248154"/>
            </a:xfrm>
            <a:custGeom>
              <a:avLst/>
              <a:gdLst/>
              <a:ahLst/>
              <a:cxnLst/>
              <a:rect l="l" t="t" r="r" b="b"/>
              <a:pathLst>
                <a:path w="9050274" h="2248154">
                  <a:moveTo>
                    <a:pt x="0" y="0"/>
                  </a:moveTo>
                  <a:lnTo>
                    <a:pt x="9050274" y="0"/>
                  </a:lnTo>
                  <a:lnTo>
                    <a:pt x="9050274" y="2248154"/>
                  </a:lnTo>
                  <a:lnTo>
                    <a:pt x="0" y="2248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83950" b="2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219109" y="4482113"/>
            <a:ext cx="5416058" cy="142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utilizó el comando git checkout feature/pedidos para integrarnos en la rama indicada.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726617" y="4522118"/>
            <a:ext cx="7419003" cy="1081649"/>
            <a:chOff x="0" y="0"/>
            <a:chExt cx="9892005" cy="14421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892030" cy="1442212"/>
            </a:xfrm>
            <a:custGeom>
              <a:avLst/>
              <a:gdLst/>
              <a:ahLst/>
              <a:cxnLst/>
              <a:rect l="l" t="t" r="r" b="b"/>
              <a:pathLst>
                <a:path w="9892030" h="1442212">
                  <a:moveTo>
                    <a:pt x="0" y="0"/>
                  </a:moveTo>
                  <a:lnTo>
                    <a:pt x="9892030" y="0"/>
                  </a:lnTo>
                  <a:lnTo>
                    <a:pt x="9892030" y="1442212"/>
                  </a:lnTo>
                  <a:lnTo>
                    <a:pt x="0" y="1442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415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219109" y="6352356"/>
            <a:ext cx="5240217" cy="142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escribió el comando git status para verificar los archivos que se han modificado.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719578" y="6335401"/>
            <a:ext cx="7419003" cy="3206591"/>
            <a:chOff x="0" y="0"/>
            <a:chExt cx="9892005" cy="427545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892030" cy="4275455"/>
            </a:xfrm>
            <a:custGeom>
              <a:avLst/>
              <a:gdLst/>
              <a:ahLst/>
              <a:cxnLst/>
              <a:rect l="l" t="t" r="r" b="b"/>
              <a:pathLst>
                <a:path w="9892030" h="4275455">
                  <a:moveTo>
                    <a:pt x="0" y="0"/>
                  </a:moveTo>
                  <a:lnTo>
                    <a:pt x="9892030" y="0"/>
                  </a:lnTo>
                  <a:lnTo>
                    <a:pt x="9892030" y="4275455"/>
                  </a:lnTo>
                  <a:lnTo>
                    <a:pt x="0" y="4275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20554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9" name="AutoShape 19"/>
          <p:cNvSpPr/>
          <p:nvPr/>
        </p:nvSpPr>
        <p:spPr>
          <a:xfrm rot="5383140">
            <a:off x="1099290" y="6016952"/>
            <a:ext cx="77613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Módulo Ventas / Pedidos REST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6102" y="2104044"/>
            <a:ext cx="3734972" cy="142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usó git add . para agregar los cambios realizados.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734298" y="2144049"/>
            <a:ext cx="11461747" cy="1117597"/>
            <a:chOff x="0" y="0"/>
            <a:chExt cx="15282329" cy="14901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82290" cy="1490091"/>
            </a:xfrm>
            <a:custGeom>
              <a:avLst/>
              <a:gdLst/>
              <a:ahLst/>
              <a:cxnLst/>
              <a:rect l="l" t="t" r="r" b="b"/>
              <a:pathLst>
                <a:path w="15282290" h="1490091">
                  <a:moveTo>
                    <a:pt x="0" y="0"/>
                  </a:moveTo>
                  <a:lnTo>
                    <a:pt x="15282290" y="0"/>
                  </a:lnTo>
                  <a:lnTo>
                    <a:pt x="15282290" y="1490091"/>
                  </a:lnTo>
                  <a:lnTo>
                    <a:pt x="0" y="1490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49" b="-2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36102" y="3892448"/>
            <a:ext cx="5099542" cy="100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Después se utilizó git commit -m para avisar el cambio realizado.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34298" y="3887714"/>
            <a:ext cx="11461747" cy="1778003"/>
            <a:chOff x="0" y="0"/>
            <a:chExt cx="15282329" cy="23706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82290" cy="2370709"/>
            </a:xfrm>
            <a:custGeom>
              <a:avLst/>
              <a:gdLst/>
              <a:ahLst/>
              <a:cxnLst/>
              <a:rect l="l" t="t" r="r" b="b"/>
              <a:pathLst>
                <a:path w="15282290" h="2370709">
                  <a:moveTo>
                    <a:pt x="0" y="0"/>
                  </a:moveTo>
                  <a:lnTo>
                    <a:pt x="15282290" y="0"/>
                  </a:lnTo>
                  <a:lnTo>
                    <a:pt x="15282290" y="2370709"/>
                  </a:lnTo>
                  <a:lnTo>
                    <a:pt x="0" y="2370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512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36102" y="6019343"/>
            <a:ext cx="4276582" cy="142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 último git push para subir los archivos nuevos agregados.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34288" y="6059348"/>
            <a:ext cx="11461747" cy="3683003"/>
            <a:chOff x="0" y="0"/>
            <a:chExt cx="15282329" cy="49106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282290" cy="4910709"/>
            </a:xfrm>
            <a:custGeom>
              <a:avLst/>
              <a:gdLst/>
              <a:ahLst/>
              <a:cxnLst/>
              <a:rect l="l" t="t" r="r" b="b"/>
              <a:pathLst>
                <a:path w="15282290" h="4910709">
                  <a:moveTo>
                    <a:pt x="0" y="0"/>
                  </a:moveTo>
                  <a:lnTo>
                    <a:pt x="15282290" y="0"/>
                  </a:lnTo>
                  <a:lnTo>
                    <a:pt x="15282290" y="4910709"/>
                  </a:lnTo>
                  <a:lnTo>
                    <a:pt x="0" y="4910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46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Módulo Ventas / Pedidos REST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07965" y="2224897"/>
            <a:ext cx="6154617" cy="142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 el repositorio GitHub aplicamos el pull request , en su descripcion escribimos Closes #10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6342" y="4840586"/>
            <a:ext cx="7343337" cy="4385996"/>
            <a:chOff x="0" y="0"/>
            <a:chExt cx="9791116" cy="58479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791065" cy="5847969"/>
            </a:xfrm>
            <a:custGeom>
              <a:avLst/>
              <a:gdLst/>
              <a:ahLst/>
              <a:cxnLst/>
              <a:rect l="l" t="t" r="r" b="b"/>
              <a:pathLst>
                <a:path w="9791065" h="5847969">
                  <a:moveTo>
                    <a:pt x="0" y="0"/>
                  </a:moveTo>
                  <a:lnTo>
                    <a:pt x="9791065" y="0"/>
                  </a:lnTo>
                  <a:lnTo>
                    <a:pt x="9791065" y="5847969"/>
                  </a:lnTo>
                  <a:lnTo>
                    <a:pt x="0" y="5847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866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15729" y="2042017"/>
            <a:ext cx="8463048" cy="227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Luego de ellos, se realizó un merge para fusionar la rama feature/pedidos con el main.</a:t>
            </a:r>
          </a:p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muestra que se realizó con éxito el merge pull request</a:t>
            </a:r>
          </a:p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 último, en el tablero kanban se muestra que la issue se encuentra en Done, lo que significa que la tarea ya se realizó.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749969" y="4840586"/>
            <a:ext cx="10398690" cy="4475740"/>
            <a:chOff x="0" y="0"/>
            <a:chExt cx="13864920" cy="59676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64971" cy="5967603"/>
            </a:xfrm>
            <a:custGeom>
              <a:avLst/>
              <a:gdLst/>
              <a:ahLst/>
              <a:cxnLst/>
              <a:rect l="l" t="t" r="r" b="b"/>
              <a:pathLst>
                <a:path w="13864971" h="5967603">
                  <a:moveTo>
                    <a:pt x="0" y="0"/>
                  </a:moveTo>
                  <a:lnTo>
                    <a:pt x="13864971" y="0"/>
                  </a:lnTo>
                  <a:lnTo>
                    <a:pt x="13864971" y="5967603"/>
                  </a:lnTo>
                  <a:lnTo>
                    <a:pt x="0" y="5967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57" b="-7438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3" name="AutoShape 13"/>
          <p:cNvSpPr/>
          <p:nvPr/>
        </p:nvSpPr>
        <p:spPr>
          <a:xfrm rot="5383140">
            <a:off x="3699139" y="6116955"/>
            <a:ext cx="776136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Documentación con Swagger / OpenAPI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2011680"/>
            <a:ext cx="16824960" cy="640080"/>
            <a:chOff x="0" y="0"/>
            <a:chExt cx="2243328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Responsable: Aldair Ronaldo Casimiro Ramos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8823" y="2821943"/>
            <a:ext cx="8072123" cy="4597403"/>
            <a:chOff x="0" y="0"/>
            <a:chExt cx="10762831" cy="61298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62869" cy="6129909"/>
            </a:xfrm>
            <a:custGeom>
              <a:avLst/>
              <a:gdLst/>
              <a:ahLst/>
              <a:cxnLst/>
              <a:rect l="l" t="t" r="r" b="b"/>
              <a:pathLst>
                <a:path w="10762869" h="6129909">
                  <a:moveTo>
                    <a:pt x="0" y="0"/>
                  </a:moveTo>
                  <a:lnTo>
                    <a:pt x="10762869" y="0"/>
                  </a:lnTo>
                  <a:lnTo>
                    <a:pt x="10762869" y="6129909"/>
                  </a:lnTo>
                  <a:lnTo>
                    <a:pt x="0" y="6129909"/>
                  </a:lnTo>
                  <a:close/>
                </a:path>
              </a:pathLst>
            </a:custGeom>
            <a:solidFill>
              <a:srgbClr val="CCFBF1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840" y="3017520"/>
            <a:ext cx="7498080" cy="731520"/>
            <a:chOff x="0" y="0"/>
            <a:chExt cx="9997440" cy="975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97440" cy="975360"/>
            </a:xfrm>
            <a:custGeom>
              <a:avLst/>
              <a:gdLst/>
              <a:ahLst/>
              <a:cxnLst/>
              <a:rect l="l" t="t" r="r" b="b"/>
              <a:pathLst>
                <a:path w="9997440" h="97536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721" b="-14972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99744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es Swagger?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05840" y="3840480"/>
            <a:ext cx="7498080" cy="3383280"/>
            <a:chOff x="0" y="0"/>
            <a:chExt cx="9997440" cy="4511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997440" cy="4511040"/>
            </a:xfrm>
            <a:custGeom>
              <a:avLst/>
              <a:gdLst/>
              <a:ahLst/>
              <a:cxnLst/>
              <a:rect l="l" t="t" r="r" b="b"/>
              <a:pathLst>
                <a:path w="9997440" h="4511040">
                  <a:moveTo>
                    <a:pt x="0" y="0"/>
                  </a:moveTo>
                  <a:lnTo>
                    <a:pt x="9997440" y="0"/>
                  </a:lnTo>
                  <a:lnTo>
                    <a:pt x="9997440" y="4511040"/>
                  </a:lnTo>
                  <a:lnTo>
                    <a:pt x="0" y="4511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93" r="-789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997440" cy="4549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Herramienta que genera automáticamente una página web de documentación para la API REST.</a:t>
              </a:r>
            </a:p>
            <a:p>
              <a:pPr algn="l">
                <a:lnSpc>
                  <a:spcPts val="2879"/>
                </a:lnSpc>
              </a:pPr>
              <a:endParaRPr lang="en-US" sz="2400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Lee el código Spring Boot y crea una interfaz visual para: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Ver todos los endpoints (GET, POST, PUT, DELETE)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Probarlos desde el navegador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Visualizar modelos de datos (schemas)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26880" y="2834640"/>
            <a:ext cx="8229600" cy="640080"/>
            <a:chOff x="0" y="0"/>
            <a:chExt cx="10972800" cy="8534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72800" cy="853440"/>
            </a:xfrm>
            <a:custGeom>
              <a:avLst/>
              <a:gdLst/>
              <a:ahLst/>
              <a:cxnLst/>
              <a:rect l="l" t="t" r="r" b="b"/>
              <a:pathLst>
                <a:path w="10972800" h="85344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Pasos de Implementación: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14183" y="3553463"/>
            <a:ext cx="610619" cy="610619"/>
            <a:chOff x="0" y="0"/>
            <a:chExt cx="814159" cy="8141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4197" cy="814197"/>
            </a:xfrm>
            <a:custGeom>
              <a:avLst/>
              <a:gdLst/>
              <a:ahLst/>
              <a:cxnLst/>
              <a:rect l="l" t="t" r="r" b="b"/>
              <a:pathLst>
                <a:path w="814197" h="814197">
                  <a:moveTo>
                    <a:pt x="0" y="0"/>
                  </a:moveTo>
                  <a:lnTo>
                    <a:pt x="814197" y="0"/>
                  </a:lnTo>
                  <a:lnTo>
                    <a:pt x="814197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26880" y="3566160"/>
            <a:ext cx="585216" cy="585216"/>
            <a:chOff x="0" y="0"/>
            <a:chExt cx="780288" cy="7802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21824" y="3602736"/>
            <a:ext cx="7498080" cy="640080"/>
            <a:chOff x="0" y="0"/>
            <a:chExt cx="9997440" cy="8534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253" b="-17825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Agregar dependencia springdoc-openapi en pom.xml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14183" y="4467863"/>
            <a:ext cx="610619" cy="610619"/>
            <a:chOff x="0" y="0"/>
            <a:chExt cx="814159" cy="81415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4197" cy="814197"/>
            </a:xfrm>
            <a:custGeom>
              <a:avLst/>
              <a:gdLst/>
              <a:ahLst/>
              <a:cxnLst/>
              <a:rect l="l" t="t" r="r" b="b"/>
              <a:pathLst>
                <a:path w="814197" h="814197">
                  <a:moveTo>
                    <a:pt x="0" y="0"/>
                  </a:moveTo>
                  <a:lnTo>
                    <a:pt x="814197" y="0"/>
                  </a:lnTo>
                  <a:lnTo>
                    <a:pt x="814197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326880" y="4480560"/>
            <a:ext cx="585216" cy="585216"/>
            <a:chOff x="0" y="0"/>
            <a:chExt cx="780288" cy="78028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21824" y="4517136"/>
            <a:ext cx="7498080" cy="640080"/>
            <a:chOff x="0" y="0"/>
            <a:chExt cx="9997440" cy="8534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253" b="-17825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Levantar servidor y acceder a Swagger UI (localhost:8080/swagger-ui/index.html)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314183" y="5382263"/>
            <a:ext cx="610619" cy="610619"/>
            <a:chOff x="0" y="0"/>
            <a:chExt cx="814159" cy="81415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4197" cy="814197"/>
            </a:xfrm>
            <a:custGeom>
              <a:avLst/>
              <a:gdLst/>
              <a:ahLst/>
              <a:cxnLst/>
              <a:rect l="l" t="t" r="r" b="b"/>
              <a:pathLst>
                <a:path w="814197" h="814197">
                  <a:moveTo>
                    <a:pt x="0" y="0"/>
                  </a:moveTo>
                  <a:lnTo>
                    <a:pt x="814197" y="0"/>
                  </a:lnTo>
                  <a:lnTo>
                    <a:pt x="814197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326880" y="5394960"/>
            <a:ext cx="585216" cy="585216"/>
            <a:chOff x="0" y="0"/>
            <a:chExt cx="780288" cy="78028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21824" y="5431536"/>
            <a:ext cx="7498080" cy="640080"/>
            <a:chOff x="0" y="0"/>
            <a:chExt cx="9997440" cy="8534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253" b="-17825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Verificar endpoints de Productos y Pedidos documentados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314183" y="6296663"/>
            <a:ext cx="610619" cy="610619"/>
            <a:chOff x="0" y="0"/>
            <a:chExt cx="814159" cy="81415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4197" cy="814197"/>
            </a:xfrm>
            <a:custGeom>
              <a:avLst/>
              <a:gdLst/>
              <a:ahLst/>
              <a:cxnLst/>
              <a:rect l="l" t="t" r="r" b="b"/>
              <a:pathLst>
                <a:path w="814197" h="814197">
                  <a:moveTo>
                    <a:pt x="0" y="0"/>
                  </a:moveTo>
                  <a:lnTo>
                    <a:pt x="814197" y="0"/>
                  </a:lnTo>
                  <a:lnTo>
                    <a:pt x="814197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26880" y="6309360"/>
            <a:ext cx="585216" cy="585216"/>
            <a:chOff x="0" y="0"/>
            <a:chExt cx="780288" cy="78028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021824" y="6345936"/>
            <a:ext cx="7498080" cy="640080"/>
            <a:chOff x="0" y="0"/>
            <a:chExt cx="9997440" cy="8534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253" b="-17825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Verificar schemas ProductoDTO y PedidoDTO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314183" y="7211063"/>
            <a:ext cx="610619" cy="610619"/>
            <a:chOff x="0" y="0"/>
            <a:chExt cx="814159" cy="81415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4197" cy="814197"/>
            </a:xfrm>
            <a:custGeom>
              <a:avLst/>
              <a:gdLst/>
              <a:ahLst/>
              <a:cxnLst/>
              <a:rect l="l" t="t" r="r" b="b"/>
              <a:pathLst>
                <a:path w="814197" h="814197">
                  <a:moveTo>
                    <a:pt x="0" y="0"/>
                  </a:moveTo>
                  <a:lnTo>
                    <a:pt x="814197" y="0"/>
                  </a:lnTo>
                  <a:lnTo>
                    <a:pt x="814197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326880" y="7223760"/>
            <a:ext cx="585216" cy="585216"/>
            <a:chOff x="0" y="0"/>
            <a:chExt cx="780288" cy="78028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021824" y="7260336"/>
            <a:ext cx="7498080" cy="640080"/>
            <a:chOff x="0" y="0"/>
            <a:chExt cx="9997440" cy="8534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253" b="-17825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Crear rama: git checkout -b feature/swagger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314183" y="8125463"/>
            <a:ext cx="610619" cy="610619"/>
            <a:chOff x="0" y="0"/>
            <a:chExt cx="814159" cy="81415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4197" cy="814197"/>
            </a:xfrm>
            <a:custGeom>
              <a:avLst/>
              <a:gdLst/>
              <a:ahLst/>
              <a:cxnLst/>
              <a:rect l="l" t="t" r="r" b="b"/>
              <a:pathLst>
                <a:path w="814197" h="814197">
                  <a:moveTo>
                    <a:pt x="0" y="0"/>
                  </a:moveTo>
                  <a:lnTo>
                    <a:pt x="814197" y="0"/>
                  </a:lnTo>
                  <a:lnTo>
                    <a:pt x="814197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326880" y="8138160"/>
            <a:ext cx="585216" cy="585216"/>
            <a:chOff x="0" y="0"/>
            <a:chExt cx="780288" cy="78028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021824" y="8174736"/>
            <a:ext cx="7498080" cy="640080"/>
            <a:chOff x="0" y="0"/>
            <a:chExt cx="9997440" cy="8534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253" b="-17825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add . → commit → git push origin feature/swagger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314183" y="9039863"/>
            <a:ext cx="610619" cy="610619"/>
            <a:chOff x="0" y="0"/>
            <a:chExt cx="814159" cy="814159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4197" cy="814197"/>
            </a:xfrm>
            <a:custGeom>
              <a:avLst/>
              <a:gdLst/>
              <a:ahLst/>
              <a:cxnLst/>
              <a:rect l="l" t="t" r="r" b="b"/>
              <a:pathLst>
                <a:path w="814197" h="814197">
                  <a:moveTo>
                    <a:pt x="0" y="0"/>
                  </a:moveTo>
                  <a:lnTo>
                    <a:pt x="814197" y="0"/>
                  </a:lnTo>
                  <a:lnTo>
                    <a:pt x="814197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326880" y="9052560"/>
            <a:ext cx="585216" cy="585216"/>
            <a:chOff x="0" y="0"/>
            <a:chExt cx="780288" cy="78028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021824" y="9089136"/>
            <a:ext cx="7498080" cy="640080"/>
            <a:chOff x="0" y="0"/>
            <a:chExt cx="9997440" cy="8534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253" b="-17825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Pull Request: Closes #11 → Merge → Issue en Done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395268" y="8237296"/>
            <a:ext cx="8578558" cy="756923"/>
            <a:chOff x="0" y="0"/>
            <a:chExt cx="11438077" cy="1009231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1438128" cy="1009269"/>
            </a:xfrm>
            <a:custGeom>
              <a:avLst/>
              <a:gdLst/>
              <a:ahLst/>
              <a:cxnLst/>
              <a:rect l="l" t="t" r="r" b="b"/>
              <a:pathLst>
                <a:path w="11438128" h="1009269">
                  <a:moveTo>
                    <a:pt x="0" y="0"/>
                  </a:moveTo>
                  <a:lnTo>
                    <a:pt x="11438128" y="0"/>
                  </a:lnTo>
                  <a:lnTo>
                    <a:pt x="11438128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91077" y="8138160"/>
            <a:ext cx="8570043" cy="731520"/>
            <a:chOff x="0" y="0"/>
            <a:chExt cx="11426723" cy="97536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1426720" cy="975360"/>
            </a:xfrm>
            <a:custGeom>
              <a:avLst/>
              <a:gdLst/>
              <a:ahLst/>
              <a:cxnLst/>
              <a:rect l="l" t="t" r="r" b="b"/>
              <a:pathLst>
                <a:path w="11426720" h="975360">
                  <a:moveTo>
                    <a:pt x="0" y="0"/>
                  </a:moveTo>
                  <a:lnTo>
                    <a:pt x="11426720" y="0"/>
                  </a:lnTo>
                  <a:lnTo>
                    <a:pt x="11426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274" b="-17827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11426723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URL: http://localhost:8080/swagger-ui/index.html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Documentación con Swagger / OpenAPI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26880" y="9052560"/>
            <a:ext cx="585216" cy="585216"/>
            <a:chOff x="0" y="0"/>
            <a:chExt cx="780288" cy="7802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731315" y="2245995"/>
            <a:ext cx="7697495" cy="100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 primer lugar, se agregó la dependencia maven de springdoc-openapi en el archivo pom.xml del proyecto.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59479" y="3679488"/>
            <a:ext cx="2183721" cy="415290"/>
            <a:chOff x="0" y="0"/>
            <a:chExt cx="2911627" cy="5537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11602" cy="553720"/>
            </a:xfrm>
            <a:custGeom>
              <a:avLst/>
              <a:gdLst/>
              <a:ahLst/>
              <a:cxnLst/>
              <a:rect l="l" t="t" r="r" b="b"/>
              <a:pathLst>
                <a:path w="2911602" h="553720">
                  <a:moveTo>
                    <a:pt x="0" y="0"/>
                  </a:moveTo>
                  <a:lnTo>
                    <a:pt x="2911602" y="0"/>
                  </a:lnTo>
                  <a:lnTo>
                    <a:pt x="2911602" y="553720"/>
                  </a:lnTo>
                  <a:lnTo>
                    <a:pt x="0" y="553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8456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9479" y="4189143"/>
            <a:ext cx="8160772" cy="5732097"/>
            <a:chOff x="0" y="0"/>
            <a:chExt cx="10881030" cy="76427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80979" cy="7642733"/>
            </a:xfrm>
            <a:custGeom>
              <a:avLst/>
              <a:gdLst/>
              <a:ahLst/>
              <a:cxnLst/>
              <a:rect l="l" t="t" r="r" b="b"/>
              <a:pathLst>
                <a:path w="10880979" h="7642733">
                  <a:moveTo>
                    <a:pt x="0" y="0"/>
                  </a:moveTo>
                  <a:lnTo>
                    <a:pt x="10880979" y="0"/>
                  </a:lnTo>
                  <a:lnTo>
                    <a:pt x="10880979" y="7642733"/>
                  </a:lnTo>
                  <a:lnTo>
                    <a:pt x="0" y="7642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2531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32799" y="4189143"/>
            <a:ext cx="8723681" cy="4376461"/>
            <a:chOff x="0" y="0"/>
            <a:chExt cx="11631574" cy="58352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631549" cy="5835269"/>
            </a:xfrm>
            <a:custGeom>
              <a:avLst/>
              <a:gdLst/>
              <a:ahLst/>
              <a:cxnLst/>
              <a:rect l="l" t="t" r="r" b="b"/>
              <a:pathLst>
                <a:path w="11631549" h="5835269">
                  <a:moveTo>
                    <a:pt x="0" y="0"/>
                  </a:moveTo>
                  <a:lnTo>
                    <a:pt x="11631549" y="0"/>
                  </a:lnTo>
                  <a:lnTo>
                    <a:pt x="11631549" y="5835269"/>
                  </a:lnTo>
                  <a:lnTo>
                    <a:pt x="0" y="5835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61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Documentación con Swagger / OpenAPI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26880" y="9052560"/>
            <a:ext cx="585216" cy="585216"/>
            <a:chOff x="0" y="0"/>
            <a:chExt cx="780288" cy="7802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22365" y="2038826"/>
            <a:ext cx="15643269" cy="1530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levantó el servidor Spring Boot y se accedió a la interfaz Swagger UI desde el navegador para verificar que los endpoints de los módulos Productos y Pedidos (REST) aparecieran correctamente documentados.</a:t>
            </a:r>
          </a:p>
          <a:p>
            <a:pPr marL="579120" lvl="1" indent="-289560" algn="l">
              <a:lnSpc>
                <a:spcPts val="3311"/>
              </a:lnSpc>
            </a:pPr>
            <a:r>
              <a:rPr lang="en-US" sz="2400">
                <a:solidFill>
                  <a:srgbClr val="0F4761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URL de Swagger : </a:t>
            </a:r>
            <a:r>
              <a:rPr lang="en-US" sz="2400" u="sng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://localhost:8080/swagger-ui/index.html"/>
              </a:rPr>
              <a:t>http://localhost:8080/swagger-ui/index.html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3928843"/>
            <a:ext cx="8333394" cy="4710932"/>
            <a:chOff x="0" y="0"/>
            <a:chExt cx="11111192" cy="62812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11230" cy="6281293"/>
            </a:xfrm>
            <a:custGeom>
              <a:avLst/>
              <a:gdLst/>
              <a:ahLst/>
              <a:cxnLst/>
              <a:rect l="l" t="t" r="r" b="b"/>
              <a:pathLst>
                <a:path w="11111230" h="6281293">
                  <a:moveTo>
                    <a:pt x="0" y="0"/>
                  </a:moveTo>
                  <a:lnTo>
                    <a:pt x="11111230" y="0"/>
                  </a:lnTo>
                  <a:lnTo>
                    <a:pt x="11111230" y="6281293"/>
                  </a:lnTo>
                  <a:lnTo>
                    <a:pt x="0" y="628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5781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05634" y="4144642"/>
            <a:ext cx="9627632" cy="4279325"/>
            <a:chOff x="0" y="0"/>
            <a:chExt cx="12836842" cy="57057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36779" cy="5705729"/>
            </a:xfrm>
            <a:custGeom>
              <a:avLst/>
              <a:gdLst/>
              <a:ahLst/>
              <a:cxnLst/>
              <a:rect l="l" t="t" r="r" b="b"/>
              <a:pathLst>
                <a:path w="12836779" h="5705729">
                  <a:moveTo>
                    <a:pt x="0" y="0"/>
                  </a:moveTo>
                  <a:lnTo>
                    <a:pt x="12836779" y="0"/>
                  </a:lnTo>
                  <a:lnTo>
                    <a:pt x="12836779" y="5705729"/>
                  </a:lnTo>
                  <a:lnTo>
                    <a:pt x="0" y="5705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2003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Documentación con Swagger / OpenAPI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26880" y="9052560"/>
            <a:ext cx="585216" cy="585216"/>
            <a:chOff x="0" y="0"/>
            <a:chExt cx="780288" cy="7802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09122" y="2880360"/>
            <a:ext cx="9219667" cy="2263140"/>
            <a:chOff x="0" y="0"/>
            <a:chExt cx="12292889" cy="3017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292838" cy="3017520"/>
            </a:xfrm>
            <a:custGeom>
              <a:avLst/>
              <a:gdLst/>
              <a:ahLst/>
              <a:cxnLst/>
              <a:rect l="l" t="t" r="r" b="b"/>
              <a:pathLst>
                <a:path w="12292838" h="3017520">
                  <a:moveTo>
                    <a:pt x="0" y="0"/>
                  </a:moveTo>
                  <a:lnTo>
                    <a:pt x="12292838" y="0"/>
                  </a:lnTo>
                  <a:lnTo>
                    <a:pt x="12292838" y="3017520"/>
                  </a:lnTo>
                  <a:lnTo>
                    <a:pt x="0" y="301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456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55659" y="5632552"/>
            <a:ext cx="9326575" cy="2737733"/>
            <a:chOff x="0" y="0"/>
            <a:chExt cx="12435434" cy="36503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435459" cy="3650361"/>
            </a:xfrm>
            <a:custGeom>
              <a:avLst/>
              <a:gdLst/>
              <a:ahLst/>
              <a:cxnLst/>
              <a:rect l="l" t="t" r="r" b="b"/>
              <a:pathLst>
                <a:path w="12435459" h="3650361">
                  <a:moveTo>
                    <a:pt x="0" y="0"/>
                  </a:moveTo>
                  <a:lnTo>
                    <a:pt x="12435459" y="0"/>
                  </a:lnTo>
                  <a:lnTo>
                    <a:pt x="12435459" y="3650361"/>
                  </a:lnTo>
                  <a:lnTo>
                    <a:pt x="0" y="3650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9275" b="1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Documentación con Swagger / OpenAPI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26880" y="9052560"/>
            <a:ext cx="585216" cy="585216"/>
            <a:chOff x="0" y="0"/>
            <a:chExt cx="780288" cy="7802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404378" y="2119065"/>
            <a:ext cx="10993898" cy="100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verificó que los schemas (modelos de datos) de ProductoDTO y PedidoDTO se mostraran correctamente en la sección Schemas de Swagger UI.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5156" y="3252406"/>
            <a:ext cx="9221724" cy="3019673"/>
            <a:chOff x="0" y="0"/>
            <a:chExt cx="12295632" cy="40262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295632" cy="4026281"/>
            </a:xfrm>
            <a:custGeom>
              <a:avLst/>
              <a:gdLst/>
              <a:ahLst/>
              <a:cxnLst/>
              <a:rect l="l" t="t" r="r" b="b"/>
              <a:pathLst>
                <a:path w="12295632" h="4026281">
                  <a:moveTo>
                    <a:pt x="0" y="0"/>
                  </a:moveTo>
                  <a:lnTo>
                    <a:pt x="12295632" y="0"/>
                  </a:lnTo>
                  <a:lnTo>
                    <a:pt x="12295632" y="4026281"/>
                  </a:lnTo>
                  <a:lnTo>
                    <a:pt x="0" y="4026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21" r="-17749" b="1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5156" y="6555543"/>
            <a:ext cx="4846672" cy="3598012"/>
            <a:chOff x="0" y="0"/>
            <a:chExt cx="6462230" cy="47973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62268" cy="4797298"/>
            </a:xfrm>
            <a:custGeom>
              <a:avLst/>
              <a:gdLst/>
              <a:ahLst/>
              <a:cxnLst/>
              <a:rect l="l" t="t" r="r" b="b"/>
              <a:pathLst>
                <a:path w="6462268" h="4797298">
                  <a:moveTo>
                    <a:pt x="0" y="0"/>
                  </a:moveTo>
                  <a:lnTo>
                    <a:pt x="6462268" y="0"/>
                  </a:lnTo>
                  <a:lnTo>
                    <a:pt x="6462268" y="4797298"/>
                  </a:lnTo>
                  <a:lnTo>
                    <a:pt x="0" y="4797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2841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51828" y="6604778"/>
            <a:ext cx="4846672" cy="3365697"/>
            <a:chOff x="0" y="0"/>
            <a:chExt cx="6462230" cy="44875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62268" cy="4487545"/>
            </a:xfrm>
            <a:custGeom>
              <a:avLst/>
              <a:gdLst/>
              <a:ahLst/>
              <a:cxnLst/>
              <a:rect l="l" t="t" r="r" b="b"/>
              <a:pathLst>
                <a:path w="6462268" h="4487545">
                  <a:moveTo>
                    <a:pt x="0" y="0"/>
                  </a:moveTo>
                  <a:lnTo>
                    <a:pt x="6462268" y="0"/>
                  </a:lnTo>
                  <a:lnTo>
                    <a:pt x="6462268" y="4487545"/>
                  </a:lnTo>
                  <a:lnTo>
                    <a:pt x="0" y="448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231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50434" y="5143500"/>
            <a:ext cx="3424076" cy="5010055"/>
            <a:chOff x="0" y="0"/>
            <a:chExt cx="4565434" cy="668007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65396" cy="6680073"/>
            </a:xfrm>
            <a:custGeom>
              <a:avLst/>
              <a:gdLst/>
              <a:ahLst/>
              <a:cxnLst/>
              <a:rect l="l" t="t" r="r" b="b"/>
              <a:pathLst>
                <a:path w="4565396" h="6680073">
                  <a:moveTo>
                    <a:pt x="0" y="0"/>
                  </a:moveTo>
                  <a:lnTo>
                    <a:pt x="4565396" y="0"/>
                  </a:lnTo>
                  <a:lnTo>
                    <a:pt x="4565396" y="6680073"/>
                  </a:lnTo>
                  <a:lnTo>
                    <a:pt x="0" y="6680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32360" b="-9843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26433" y="7242105"/>
            <a:ext cx="4656411" cy="2911450"/>
            <a:chOff x="0" y="0"/>
            <a:chExt cx="6208547" cy="38819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08522" cy="3881882"/>
            </a:xfrm>
            <a:custGeom>
              <a:avLst/>
              <a:gdLst/>
              <a:ahLst/>
              <a:cxnLst/>
              <a:rect l="l" t="t" r="r" b="b"/>
              <a:pathLst>
                <a:path w="6208522" h="3881882">
                  <a:moveTo>
                    <a:pt x="0" y="0"/>
                  </a:moveTo>
                  <a:lnTo>
                    <a:pt x="6208522" y="0"/>
                  </a:lnTo>
                  <a:lnTo>
                    <a:pt x="6208522" y="3881882"/>
                  </a:lnTo>
                  <a:lnTo>
                    <a:pt x="0" y="3881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602" r="-22356" b="-1269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Documentación con Swagger / OpenAPI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84063" y="2042499"/>
            <a:ext cx="7459512" cy="984393"/>
          </a:xfrm>
          <a:custGeom>
            <a:avLst/>
            <a:gdLst/>
            <a:ahLst/>
            <a:cxnLst/>
            <a:rect l="l" t="t" r="r" b="b"/>
            <a:pathLst>
              <a:path w="7459512" h="984393">
                <a:moveTo>
                  <a:pt x="0" y="0"/>
                </a:moveTo>
                <a:lnTo>
                  <a:pt x="7459512" y="0"/>
                </a:lnTo>
                <a:lnTo>
                  <a:pt x="7459512" y="984393"/>
                </a:lnTo>
                <a:lnTo>
                  <a:pt x="0" y="9843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Freeform 8"/>
          <p:cNvSpPr/>
          <p:nvPr/>
        </p:nvSpPr>
        <p:spPr>
          <a:xfrm>
            <a:off x="184063" y="4618471"/>
            <a:ext cx="7228240" cy="956679"/>
          </a:xfrm>
          <a:custGeom>
            <a:avLst/>
            <a:gdLst/>
            <a:ahLst/>
            <a:cxnLst/>
            <a:rect l="l" t="t" r="r" b="b"/>
            <a:pathLst>
              <a:path w="7228240" h="956679">
                <a:moveTo>
                  <a:pt x="0" y="0"/>
                </a:moveTo>
                <a:lnTo>
                  <a:pt x="7228240" y="0"/>
                </a:lnTo>
                <a:lnTo>
                  <a:pt x="7228240" y="956679"/>
                </a:lnTo>
                <a:lnTo>
                  <a:pt x="0" y="956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269995" y="5575150"/>
            <a:ext cx="7714703" cy="4568542"/>
          </a:xfrm>
          <a:custGeom>
            <a:avLst/>
            <a:gdLst/>
            <a:ahLst/>
            <a:cxnLst/>
            <a:rect l="l" t="t" r="r" b="b"/>
            <a:pathLst>
              <a:path w="7714703" h="4568542">
                <a:moveTo>
                  <a:pt x="0" y="0"/>
                </a:moveTo>
                <a:lnTo>
                  <a:pt x="7714702" y="0"/>
                </a:lnTo>
                <a:lnTo>
                  <a:pt x="7714702" y="4568542"/>
                </a:lnTo>
                <a:lnTo>
                  <a:pt x="0" y="45685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7264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10"/>
          <p:cNvSpPr/>
          <p:nvPr/>
        </p:nvSpPr>
        <p:spPr>
          <a:xfrm>
            <a:off x="355926" y="3169965"/>
            <a:ext cx="7542840" cy="898215"/>
          </a:xfrm>
          <a:custGeom>
            <a:avLst/>
            <a:gdLst/>
            <a:ahLst/>
            <a:cxnLst/>
            <a:rect l="l" t="t" r="r" b="b"/>
            <a:pathLst>
              <a:path w="7542840" h="898215">
                <a:moveTo>
                  <a:pt x="0" y="0"/>
                </a:moveTo>
                <a:lnTo>
                  <a:pt x="7542840" y="0"/>
                </a:lnTo>
                <a:lnTo>
                  <a:pt x="7542840" y="898214"/>
                </a:lnTo>
                <a:lnTo>
                  <a:pt x="0" y="8982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1" name="AutoShape 11"/>
          <p:cNvSpPr/>
          <p:nvPr/>
        </p:nvSpPr>
        <p:spPr>
          <a:xfrm>
            <a:off x="8203780" y="2042546"/>
            <a:ext cx="38064" cy="776126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12" name="Freeform 12"/>
          <p:cNvSpPr/>
          <p:nvPr/>
        </p:nvSpPr>
        <p:spPr>
          <a:xfrm>
            <a:off x="8803819" y="2118742"/>
            <a:ext cx="6991041" cy="1816300"/>
          </a:xfrm>
          <a:custGeom>
            <a:avLst/>
            <a:gdLst/>
            <a:ahLst/>
            <a:cxnLst/>
            <a:rect l="l" t="t" r="r" b="b"/>
            <a:pathLst>
              <a:path w="6991041" h="1816300">
                <a:moveTo>
                  <a:pt x="0" y="0"/>
                </a:moveTo>
                <a:lnTo>
                  <a:pt x="6991042" y="0"/>
                </a:lnTo>
                <a:lnTo>
                  <a:pt x="6991042" y="1816300"/>
                </a:lnTo>
                <a:lnTo>
                  <a:pt x="0" y="18163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3" name="Freeform 13"/>
          <p:cNvSpPr/>
          <p:nvPr/>
        </p:nvSpPr>
        <p:spPr>
          <a:xfrm>
            <a:off x="9032419" y="4024966"/>
            <a:ext cx="8302004" cy="2237067"/>
          </a:xfrm>
          <a:custGeom>
            <a:avLst/>
            <a:gdLst/>
            <a:ahLst/>
            <a:cxnLst/>
            <a:rect l="l" t="t" r="r" b="b"/>
            <a:pathLst>
              <a:path w="8302004" h="2237067">
                <a:moveTo>
                  <a:pt x="0" y="0"/>
                </a:moveTo>
                <a:lnTo>
                  <a:pt x="8302005" y="0"/>
                </a:lnTo>
                <a:lnTo>
                  <a:pt x="8302005" y="2237068"/>
                </a:lnTo>
                <a:lnTo>
                  <a:pt x="0" y="22370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Freeform 14"/>
          <p:cNvSpPr/>
          <p:nvPr/>
        </p:nvSpPr>
        <p:spPr>
          <a:xfrm>
            <a:off x="8803819" y="6606438"/>
            <a:ext cx="8612284" cy="3197375"/>
          </a:xfrm>
          <a:custGeom>
            <a:avLst/>
            <a:gdLst/>
            <a:ahLst/>
            <a:cxnLst/>
            <a:rect l="l" t="t" r="r" b="b"/>
            <a:pathLst>
              <a:path w="8612284" h="3197375">
                <a:moveTo>
                  <a:pt x="0" y="0"/>
                </a:moveTo>
                <a:lnTo>
                  <a:pt x="8612284" y="0"/>
                </a:lnTo>
                <a:lnTo>
                  <a:pt x="8612284" y="3197375"/>
                </a:lnTo>
                <a:lnTo>
                  <a:pt x="0" y="3197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Documentación con Swagger / OpenAPI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55225" y="2340731"/>
            <a:ext cx="7095403" cy="1118365"/>
          </a:xfrm>
          <a:custGeom>
            <a:avLst/>
            <a:gdLst/>
            <a:ahLst/>
            <a:cxnLst/>
            <a:rect l="l" t="t" r="r" b="b"/>
            <a:pathLst>
              <a:path w="7095403" h="1118365">
                <a:moveTo>
                  <a:pt x="0" y="0"/>
                </a:moveTo>
                <a:lnTo>
                  <a:pt x="7095403" y="0"/>
                </a:lnTo>
                <a:lnTo>
                  <a:pt x="7095403" y="1118365"/>
                </a:lnTo>
                <a:lnTo>
                  <a:pt x="0" y="1118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Freeform 8"/>
          <p:cNvSpPr/>
          <p:nvPr/>
        </p:nvSpPr>
        <p:spPr>
          <a:xfrm>
            <a:off x="355225" y="3645077"/>
            <a:ext cx="7987301" cy="6305127"/>
          </a:xfrm>
          <a:custGeom>
            <a:avLst/>
            <a:gdLst/>
            <a:ahLst/>
            <a:cxnLst/>
            <a:rect l="l" t="t" r="r" b="b"/>
            <a:pathLst>
              <a:path w="7987301" h="6305127">
                <a:moveTo>
                  <a:pt x="0" y="0"/>
                </a:moveTo>
                <a:lnTo>
                  <a:pt x="7987301" y="0"/>
                </a:lnTo>
                <a:lnTo>
                  <a:pt x="7987301" y="6305127"/>
                </a:lnTo>
                <a:lnTo>
                  <a:pt x="0" y="6305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8729008" y="2899914"/>
            <a:ext cx="28515" cy="6045256"/>
          </a:xfrm>
          <a:custGeom>
            <a:avLst/>
            <a:gdLst/>
            <a:ahLst/>
            <a:cxnLst/>
            <a:rect l="l" t="t" r="r" b="b"/>
            <a:pathLst>
              <a:path w="28515" h="6045256">
                <a:moveTo>
                  <a:pt x="0" y="0"/>
                </a:moveTo>
                <a:lnTo>
                  <a:pt x="28515" y="0"/>
                </a:lnTo>
                <a:lnTo>
                  <a:pt x="28515" y="6045256"/>
                </a:lnTo>
                <a:lnTo>
                  <a:pt x="0" y="60452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10"/>
          <p:cNvSpPr/>
          <p:nvPr/>
        </p:nvSpPr>
        <p:spPr>
          <a:xfrm>
            <a:off x="9144005" y="2405434"/>
            <a:ext cx="8792224" cy="1053662"/>
          </a:xfrm>
          <a:custGeom>
            <a:avLst/>
            <a:gdLst/>
            <a:ahLst/>
            <a:cxnLst/>
            <a:rect l="l" t="t" r="r" b="b"/>
            <a:pathLst>
              <a:path w="8792224" h="1053662">
                <a:moveTo>
                  <a:pt x="0" y="0"/>
                </a:moveTo>
                <a:lnTo>
                  <a:pt x="8792223" y="0"/>
                </a:lnTo>
                <a:lnTo>
                  <a:pt x="8792223" y="1053662"/>
                </a:lnTo>
                <a:lnTo>
                  <a:pt x="0" y="10536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>
          <a:xfrm>
            <a:off x="9332882" y="3645077"/>
            <a:ext cx="8414469" cy="5630546"/>
          </a:xfrm>
          <a:custGeom>
            <a:avLst/>
            <a:gdLst/>
            <a:ahLst/>
            <a:cxnLst/>
            <a:rect l="l" t="t" r="r" b="b"/>
            <a:pathLst>
              <a:path w="8414469" h="5630546">
                <a:moveTo>
                  <a:pt x="0" y="0"/>
                </a:moveTo>
                <a:lnTo>
                  <a:pt x="8414469" y="0"/>
                </a:lnTo>
                <a:lnTo>
                  <a:pt x="8414469" y="5630547"/>
                </a:lnTo>
                <a:lnTo>
                  <a:pt x="0" y="5630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Documentación con Swagger / OpenAPI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49595" y="2086087"/>
            <a:ext cx="6705911" cy="1479763"/>
          </a:xfrm>
          <a:custGeom>
            <a:avLst/>
            <a:gdLst/>
            <a:ahLst/>
            <a:cxnLst/>
            <a:rect l="l" t="t" r="r" b="b"/>
            <a:pathLst>
              <a:path w="6705911" h="1479763">
                <a:moveTo>
                  <a:pt x="0" y="0"/>
                </a:moveTo>
                <a:lnTo>
                  <a:pt x="6705912" y="0"/>
                </a:lnTo>
                <a:lnTo>
                  <a:pt x="6705912" y="1479764"/>
                </a:lnTo>
                <a:lnTo>
                  <a:pt x="0" y="14797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Freeform 8"/>
          <p:cNvSpPr/>
          <p:nvPr/>
        </p:nvSpPr>
        <p:spPr>
          <a:xfrm>
            <a:off x="332261" y="3718991"/>
            <a:ext cx="7892642" cy="4624904"/>
          </a:xfrm>
          <a:custGeom>
            <a:avLst/>
            <a:gdLst/>
            <a:ahLst/>
            <a:cxnLst/>
            <a:rect l="l" t="t" r="r" b="b"/>
            <a:pathLst>
              <a:path w="7892642" h="4624904">
                <a:moveTo>
                  <a:pt x="0" y="0"/>
                </a:moveTo>
                <a:lnTo>
                  <a:pt x="7892642" y="0"/>
                </a:lnTo>
                <a:lnTo>
                  <a:pt x="7892642" y="4624904"/>
                </a:lnTo>
                <a:lnTo>
                  <a:pt x="0" y="4624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9" name="Freeform 9"/>
          <p:cNvSpPr/>
          <p:nvPr/>
        </p:nvSpPr>
        <p:spPr>
          <a:xfrm>
            <a:off x="8753076" y="2086087"/>
            <a:ext cx="9034397" cy="518225"/>
          </a:xfrm>
          <a:custGeom>
            <a:avLst/>
            <a:gdLst/>
            <a:ahLst/>
            <a:cxnLst/>
            <a:rect l="l" t="t" r="r" b="b"/>
            <a:pathLst>
              <a:path w="9034397" h="518225">
                <a:moveTo>
                  <a:pt x="0" y="0"/>
                </a:moveTo>
                <a:lnTo>
                  <a:pt x="9034397" y="0"/>
                </a:lnTo>
                <a:lnTo>
                  <a:pt x="9034397" y="518225"/>
                </a:lnTo>
                <a:lnTo>
                  <a:pt x="0" y="518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995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10"/>
          <p:cNvSpPr/>
          <p:nvPr/>
        </p:nvSpPr>
        <p:spPr>
          <a:xfrm>
            <a:off x="9923695" y="2757453"/>
            <a:ext cx="6693160" cy="7224747"/>
          </a:xfrm>
          <a:custGeom>
            <a:avLst/>
            <a:gdLst/>
            <a:ahLst/>
            <a:cxnLst/>
            <a:rect l="l" t="t" r="r" b="b"/>
            <a:pathLst>
              <a:path w="6693160" h="7224747">
                <a:moveTo>
                  <a:pt x="0" y="0"/>
                </a:moveTo>
                <a:lnTo>
                  <a:pt x="6693160" y="0"/>
                </a:lnTo>
                <a:lnTo>
                  <a:pt x="6693160" y="7224747"/>
                </a:lnTo>
                <a:lnTo>
                  <a:pt x="0" y="72247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>
          <a:xfrm>
            <a:off x="8474732" y="2498340"/>
            <a:ext cx="28515" cy="6045256"/>
          </a:xfrm>
          <a:custGeom>
            <a:avLst/>
            <a:gdLst/>
            <a:ahLst/>
            <a:cxnLst/>
            <a:rect l="l" t="t" r="r" b="b"/>
            <a:pathLst>
              <a:path w="28515" h="6045256">
                <a:moveTo>
                  <a:pt x="0" y="0"/>
                </a:moveTo>
                <a:lnTo>
                  <a:pt x="28515" y="0"/>
                </a:lnTo>
                <a:lnTo>
                  <a:pt x="28515" y="6045256"/>
                </a:lnTo>
                <a:lnTo>
                  <a:pt x="0" y="60452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Documentación con Swagger / OpenAPI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979521" y="2087496"/>
            <a:ext cx="10328957" cy="1237824"/>
          </a:xfrm>
          <a:custGeom>
            <a:avLst/>
            <a:gdLst/>
            <a:ahLst/>
            <a:cxnLst/>
            <a:rect l="l" t="t" r="r" b="b"/>
            <a:pathLst>
              <a:path w="10328957" h="1237824">
                <a:moveTo>
                  <a:pt x="0" y="0"/>
                </a:moveTo>
                <a:lnTo>
                  <a:pt x="10328958" y="0"/>
                </a:lnTo>
                <a:lnTo>
                  <a:pt x="10328958" y="1237825"/>
                </a:lnTo>
                <a:lnTo>
                  <a:pt x="0" y="1237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8" name="Freeform 8"/>
          <p:cNvSpPr/>
          <p:nvPr/>
        </p:nvSpPr>
        <p:spPr>
          <a:xfrm>
            <a:off x="2047740" y="3325321"/>
            <a:ext cx="14192530" cy="6883377"/>
          </a:xfrm>
          <a:custGeom>
            <a:avLst/>
            <a:gdLst/>
            <a:ahLst/>
            <a:cxnLst/>
            <a:rect l="l" t="t" r="r" b="b"/>
            <a:pathLst>
              <a:path w="14192530" h="6883377">
                <a:moveTo>
                  <a:pt x="0" y="0"/>
                </a:moveTo>
                <a:lnTo>
                  <a:pt x="14192530" y="0"/>
                </a:lnTo>
                <a:lnTo>
                  <a:pt x="14192530" y="6883377"/>
                </a:lnTo>
                <a:lnTo>
                  <a:pt x="0" y="68833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Merge Conflict + Resolución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2011680"/>
            <a:ext cx="16824960" cy="640080"/>
            <a:chOff x="0" y="0"/>
            <a:chExt cx="2243328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Responsable: Aldair Ronaldo Casimiro Ramos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2834640"/>
            <a:ext cx="16824960" cy="640080"/>
            <a:chOff x="0" y="0"/>
            <a:chExt cx="22433280" cy="853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Archivo en conflicto: config.txt</a:t>
              </a:r>
            </a:p>
          </p:txBody>
        </p:sp>
      </p:grp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731520" y="3474720"/>
          <a:ext cx="16764000" cy="2336800"/>
        </p:xfrm>
        <a:graphic>
          <a:graphicData uri="http://schemas.openxmlformats.org/drawingml/2006/table">
            <a:tbl>
              <a:tblPr/>
              <a:tblGrid>
                <a:gridCol w="55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Parámetro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Rama A (feature/conflicto-A)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Rama B (feature/conflicto-B)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version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2.0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3.0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puerto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9090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7070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base_datos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urbanflow_dev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urbanflow_test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4" name="Group 14"/>
          <p:cNvGrpSpPr/>
          <p:nvPr/>
        </p:nvGrpSpPr>
        <p:grpSpPr>
          <a:xfrm>
            <a:off x="731520" y="6035040"/>
            <a:ext cx="16824960" cy="640080"/>
            <a:chOff x="0" y="0"/>
            <a:chExt cx="22433280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Resolución en VS Code: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18823" y="6753863"/>
            <a:ext cx="8255003" cy="1086107"/>
            <a:chOff x="0" y="0"/>
            <a:chExt cx="11006671" cy="144814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006709" cy="1448181"/>
            </a:xfrm>
            <a:custGeom>
              <a:avLst/>
              <a:gdLst/>
              <a:ahLst/>
              <a:cxnLst/>
              <a:rect l="l" t="t" r="r" b="b"/>
              <a:pathLst>
                <a:path w="11006709" h="1448181">
                  <a:moveTo>
                    <a:pt x="0" y="0"/>
                  </a:moveTo>
                  <a:lnTo>
                    <a:pt x="11006709" y="0"/>
                  </a:lnTo>
                  <a:lnTo>
                    <a:pt x="1100670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6949440"/>
            <a:ext cx="731520" cy="694944"/>
            <a:chOff x="0" y="0"/>
            <a:chExt cx="975360" cy="92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37360" y="6858000"/>
            <a:ext cx="7040880" cy="914400"/>
            <a:chOff x="0" y="0"/>
            <a:chExt cx="9387840" cy="1219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387840" cy="1219200"/>
            </a:xfrm>
            <a:custGeom>
              <a:avLst/>
              <a:gdLst/>
              <a:ahLst/>
              <a:cxnLst/>
              <a:rect l="l" t="t" r="r" b="b"/>
              <a:pathLst>
                <a:path w="9387840" h="1219200">
                  <a:moveTo>
                    <a:pt x="0" y="0"/>
                  </a:moveTo>
                  <a:lnTo>
                    <a:pt x="9387840" y="0"/>
                  </a:lnTo>
                  <a:lnTo>
                    <a:pt x="9387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034" b="-10003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938784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Code detectó automáticamente el conflicto y marcó las líneas con colores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97063" y="6753863"/>
            <a:ext cx="8255003" cy="1086107"/>
            <a:chOff x="0" y="0"/>
            <a:chExt cx="11006671" cy="144814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006709" cy="1448181"/>
            </a:xfrm>
            <a:custGeom>
              <a:avLst/>
              <a:gdLst/>
              <a:ahLst/>
              <a:cxnLst/>
              <a:rect l="l" t="t" r="r" b="b"/>
              <a:pathLst>
                <a:path w="11006709" h="1448181">
                  <a:moveTo>
                    <a:pt x="0" y="0"/>
                  </a:moveTo>
                  <a:lnTo>
                    <a:pt x="11006709" y="0"/>
                  </a:lnTo>
                  <a:lnTo>
                    <a:pt x="1100670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92640" y="6949440"/>
            <a:ext cx="731520" cy="694944"/>
            <a:chOff x="0" y="0"/>
            <a:chExt cx="975360" cy="926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515600" y="6858000"/>
            <a:ext cx="7040880" cy="914400"/>
            <a:chOff x="0" y="0"/>
            <a:chExt cx="9387840" cy="1219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387840" cy="1219200"/>
            </a:xfrm>
            <a:custGeom>
              <a:avLst/>
              <a:gdLst/>
              <a:ahLst/>
              <a:cxnLst/>
              <a:rect l="l" t="t" r="r" b="b"/>
              <a:pathLst>
                <a:path w="9387840" h="1219200">
                  <a:moveTo>
                    <a:pt x="0" y="0"/>
                  </a:moveTo>
                  <a:lnTo>
                    <a:pt x="9387840" y="0"/>
                  </a:lnTo>
                  <a:lnTo>
                    <a:pt x="9387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034" b="-10003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938784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 Control (Ctrl+Shift+G) para visualizar archivos en conflicto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18823" y="7997447"/>
            <a:ext cx="8255003" cy="1086107"/>
            <a:chOff x="0" y="0"/>
            <a:chExt cx="11006671" cy="14481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06709" cy="1448181"/>
            </a:xfrm>
            <a:custGeom>
              <a:avLst/>
              <a:gdLst/>
              <a:ahLst/>
              <a:cxnLst/>
              <a:rect l="l" t="t" r="r" b="b"/>
              <a:pathLst>
                <a:path w="11006709" h="1448181">
                  <a:moveTo>
                    <a:pt x="0" y="0"/>
                  </a:moveTo>
                  <a:lnTo>
                    <a:pt x="11006709" y="0"/>
                  </a:lnTo>
                  <a:lnTo>
                    <a:pt x="1100670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4400" y="8193024"/>
            <a:ext cx="731520" cy="694944"/>
            <a:chOff x="0" y="0"/>
            <a:chExt cx="97536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737360" y="8101584"/>
            <a:ext cx="7040880" cy="914400"/>
            <a:chOff x="0" y="0"/>
            <a:chExt cx="938784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387840" cy="1219200"/>
            </a:xfrm>
            <a:custGeom>
              <a:avLst/>
              <a:gdLst/>
              <a:ahLst/>
              <a:cxnLst/>
              <a:rect l="l" t="t" r="r" b="b"/>
              <a:pathLst>
                <a:path w="9387840" h="1219200">
                  <a:moveTo>
                    <a:pt x="0" y="0"/>
                  </a:moveTo>
                  <a:lnTo>
                    <a:pt x="9387840" y="0"/>
                  </a:lnTo>
                  <a:lnTo>
                    <a:pt x="9387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034" b="-10003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938784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"Accept Both Changes" para combinar ambas versiones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497063" y="7997447"/>
            <a:ext cx="8255003" cy="1086107"/>
            <a:chOff x="0" y="0"/>
            <a:chExt cx="11006671" cy="144814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006709" cy="1448181"/>
            </a:xfrm>
            <a:custGeom>
              <a:avLst/>
              <a:gdLst/>
              <a:ahLst/>
              <a:cxnLst/>
              <a:rect l="l" t="t" r="r" b="b"/>
              <a:pathLst>
                <a:path w="11006709" h="1448181">
                  <a:moveTo>
                    <a:pt x="0" y="0"/>
                  </a:moveTo>
                  <a:lnTo>
                    <a:pt x="11006709" y="0"/>
                  </a:lnTo>
                  <a:lnTo>
                    <a:pt x="1100670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692640" y="8193024"/>
            <a:ext cx="731520" cy="694944"/>
            <a:chOff x="0" y="0"/>
            <a:chExt cx="975360" cy="92659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💾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15600" y="8101584"/>
            <a:ext cx="7040880" cy="914400"/>
            <a:chOff x="0" y="0"/>
            <a:chExt cx="9387840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387840" cy="1219200"/>
            </a:xfrm>
            <a:custGeom>
              <a:avLst/>
              <a:gdLst/>
              <a:ahLst/>
              <a:cxnLst/>
              <a:rect l="l" t="t" r="r" b="b"/>
              <a:pathLst>
                <a:path w="9387840" h="1219200">
                  <a:moveTo>
                    <a:pt x="0" y="0"/>
                  </a:moveTo>
                  <a:lnTo>
                    <a:pt x="9387840" y="0"/>
                  </a:lnTo>
                  <a:lnTo>
                    <a:pt x="9387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034" b="-10003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938784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add config.txt → git commit -m "merge: resolver conflicto"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18823" y="9241031"/>
            <a:ext cx="8255003" cy="1086107"/>
            <a:chOff x="0" y="0"/>
            <a:chExt cx="11006671" cy="144814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006709" cy="1448181"/>
            </a:xfrm>
            <a:custGeom>
              <a:avLst/>
              <a:gdLst/>
              <a:ahLst/>
              <a:cxnLst/>
              <a:rect l="l" t="t" r="r" b="b"/>
              <a:pathLst>
                <a:path w="11006709" h="1448181">
                  <a:moveTo>
                    <a:pt x="0" y="0"/>
                  </a:moveTo>
                  <a:lnTo>
                    <a:pt x="11006709" y="0"/>
                  </a:lnTo>
                  <a:lnTo>
                    <a:pt x="1100670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14400" y="9436608"/>
            <a:ext cx="731520" cy="694944"/>
            <a:chOff x="0" y="0"/>
            <a:chExt cx="975360" cy="9265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🚀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737360" y="9345168"/>
            <a:ext cx="7040880" cy="914400"/>
            <a:chOff x="0" y="0"/>
            <a:chExt cx="9387840" cy="12192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387840" cy="1219200"/>
            </a:xfrm>
            <a:custGeom>
              <a:avLst/>
              <a:gdLst/>
              <a:ahLst/>
              <a:cxnLst/>
              <a:rect l="l" t="t" r="r" b="b"/>
              <a:pathLst>
                <a:path w="9387840" h="1219200">
                  <a:moveTo>
                    <a:pt x="0" y="0"/>
                  </a:moveTo>
                  <a:lnTo>
                    <a:pt x="9387840" y="0"/>
                  </a:lnTo>
                  <a:lnTo>
                    <a:pt x="9387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034" b="-10003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938784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push origin feature/conflictos → Issue #12 cerrado automáticamente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Merge Conflict + Resolución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5" y="2053590"/>
            <a:ext cx="16824960" cy="640080"/>
            <a:chOff x="0" y="0"/>
            <a:chExt cx="2243328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Explicacion del conflicto</a:t>
              </a:r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62000" y="3022921"/>
          <a:ext cx="16764000" cy="2603500"/>
        </p:xfrm>
        <a:graphic>
          <a:graphicData uri="http://schemas.openxmlformats.org/drawingml/2006/table">
            <a:tbl>
              <a:tblPr/>
              <a:tblGrid>
                <a:gridCol w="55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7877"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Parámetro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Rama A (feature/conflicto-A)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Rama B (feature/conflicto-B)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873"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version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2.0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3.0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873"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puerto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9090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7070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877"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base_datos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urbanflow_dev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urbanflow_test</a:t>
                      </a:r>
                      <a:endParaRPr lang="en-US" sz="1100"/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2053331" y="9133434"/>
            <a:ext cx="14181337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Esto ocurre cuando dos desarrolladores trabajan en paralelo desde develop, modifican el mismo archivo y luego intentan fusionar sus cambios. Git no puede decidir automáticamente qué versión es la correct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56572" y="2451421"/>
            <a:ext cx="1418133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¿Que cambios chocaron?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56572" y="5931221"/>
            <a:ext cx="1418133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¿Que ramas participaron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689715" y="6502721"/>
            <a:ext cx="5591752" cy="1086107"/>
            <a:chOff x="0" y="0"/>
            <a:chExt cx="7455669" cy="14481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455707" cy="1448181"/>
            </a:xfrm>
            <a:custGeom>
              <a:avLst/>
              <a:gdLst/>
              <a:ahLst/>
              <a:cxnLst/>
              <a:rect l="l" t="t" r="r" b="b"/>
              <a:pathLst>
                <a:path w="7455707" h="1448181">
                  <a:moveTo>
                    <a:pt x="0" y="0"/>
                  </a:moveTo>
                  <a:lnTo>
                    <a:pt x="7455707" y="0"/>
                  </a:lnTo>
                  <a:lnTo>
                    <a:pt x="745570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34055" y="6606858"/>
            <a:ext cx="7040880" cy="914400"/>
            <a:chOff x="0" y="0"/>
            <a:chExt cx="9387840" cy="121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387840" cy="1219200"/>
            </a:xfrm>
            <a:custGeom>
              <a:avLst/>
              <a:gdLst/>
              <a:ahLst/>
              <a:cxnLst/>
              <a:rect l="l" t="t" r="r" b="b"/>
              <a:pathLst>
                <a:path w="9387840" h="1219200">
                  <a:moveTo>
                    <a:pt x="0" y="0"/>
                  </a:moveTo>
                  <a:lnTo>
                    <a:pt x="9387840" y="0"/>
                  </a:lnTo>
                  <a:lnTo>
                    <a:pt x="9387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034" b="-10003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938784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feature/conflicto-A (creada desde develop)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10735" y="7847301"/>
            <a:ext cx="7055523" cy="1086107"/>
            <a:chOff x="0" y="0"/>
            <a:chExt cx="9407365" cy="144814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407403" cy="1448181"/>
            </a:xfrm>
            <a:custGeom>
              <a:avLst/>
              <a:gdLst/>
              <a:ahLst/>
              <a:cxnLst/>
              <a:rect l="l" t="t" r="r" b="b"/>
              <a:pathLst>
                <a:path w="9407403" h="1448181">
                  <a:moveTo>
                    <a:pt x="0" y="0"/>
                  </a:moveTo>
                  <a:lnTo>
                    <a:pt x="9407403" y="0"/>
                  </a:lnTo>
                  <a:lnTo>
                    <a:pt x="9407403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36395" y="7951438"/>
            <a:ext cx="7040880" cy="914400"/>
            <a:chOff x="0" y="0"/>
            <a:chExt cx="938784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387840" cy="1219200"/>
            </a:xfrm>
            <a:custGeom>
              <a:avLst/>
              <a:gdLst/>
              <a:ahLst/>
              <a:cxnLst/>
              <a:rect l="l" t="t" r="r" b="b"/>
              <a:pathLst>
                <a:path w="9387840" h="1219200">
                  <a:moveTo>
                    <a:pt x="0" y="0"/>
                  </a:moveTo>
                  <a:lnTo>
                    <a:pt x="9387840" y="0"/>
                  </a:lnTo>
                  <a:lnTo>
                    <a:pt x="9387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034" b="-10003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38784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feature/conflictos (rama que recibió el merge y resolvió el conflicto)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874935" y="6502721"/>
            <a:ext cx="5347790" cy="1086107"/>
            <a:chOff x="0" y="0"/>
            <a:chExt cx="7130386" cy="14481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130424" cy="1448181"/>
            </a:xfrm>
            <a:custGeom>
              <a:avLst/>
              <a:gdLst/>
              <a:ahLst/>
              <a:cxnLst/>
              <a:rect l="l" t="t" r="r" b="b"/>
              <a:pathLst>
                <a:path w="7130424" h="1448181">
                  <a:moveTo>
                    <a:pt x="0" y="0"/>
                  </a:moveTo>
                  <a:lnTo>
                    <a:pt x="7130424" y="0"/>
                  </a:lnTo>
                  <a:lnTo>
                    <a:pt x="7130424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59935" y="6606858"/>
            <a:ext cx="7040880" cy="914400"/>
            <a:chOff x="0" y="0"/>
            <a:chExt cx="938784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387840" cy="1219200"/>
            </a:xfrm>
            <a:custGeom>
              <a:avLst/>
              <a:gdLst/>
              <a:ahLst/>
              <a:cxnLst/>
              <a:rect l="l" t="t" r="r" b="b"/>
              <a:pathLst>
                <a:path w="9387840" h="1219200">
                  <a:moveTo>
                    <a:pt x="0" y="0"/>
                  </a:moveTo>
                  <a:lnTo>
                    <a:pt x="9387840" y="0"/>
                  </a:lnTo>
                  <a:lnTo>
                    <a:pt x="9387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034" b="-10003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38784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feature/conflicto-B (creada desde develop)</a:t>
              </a:r>
            </a:p>
            <a:p>
              <a:pPr algn="l">
                <a:lnSpc>
                  <a:spcPts val="2640"/>
                </a:lnSpc>
              </a:pPr>
              <a:endParaRPr lang="en-US" sz="21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Merge Conflict + Resolución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1346" y="2230996"/>
            <a:ext cx="14156069" cy="538546"/>
            <a:chOff x="0" y="0"/>
            <a:chExt cx="2243328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Archivo en conflicto: config.txt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5143500"/>
            <a:ext cx="16824960" cy="640080"/>
            <a:chOff x="0" y="0"/>
            <a:chExt cx="22433280" cy="853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Resolución en VS Code: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92640" y="6949440"/>
            <a:ext cx="731520" cy="694944"/>
            <a:chOff x="0" y="0"/>
            <a:chExt cx="975360" cy="9265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7362249" y="2230996"/>
            <a:ext cx="10389818" cy="5065916"/>
          </a:xfrm>
          <a:custGeom>
            <a:avLst/>
            <a:gdLst/>
            <a:ahLst/>
            <a:cxnLst/>
            <a:rect l="l" t="t" r="r" b="b"/>
            <a:pathLst>
              <a:path w="10389818" h="5065916">
                <a:moveTo>
                  <a:pt x="0" y="0"/>
                </a:moveTo>
                <a:lnTo>
                  <a:pt x="10389817" y="0"/>
                </a:lnTo>
                <a:lnTo>
                  <a:pt x="10389817" y="5065916"/>
                </a:lnTo>
                <a:lnTo>
                  <a:pt x="0" y="5065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Merge Conflict + Resolución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65966" y="2202530"/>
            <a:ext cx="14156069" cy="797272"/>
            <a:chOff x="0" y="0"/>
            <a:chExt cx="22433280" cy="12634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1263446"/>
            </a:xfrm>
            <a:custGeom>
              <a:avLst/>
              <a:gdLst/>
              <a:ahLst/>
              <a:cxnLst/>
              <a:rect l="l" t="t" r="r" b="b"/>
              <a:pathLst>
                <a:path w="22433280" h="1263446">
                  <a:moveTo>
                    <a:pt x="0" y="0"/>
                  </a:moveTo>
                  <a:lnTo>
                    <a:pt x="22433280" y="0"/>
                  </a:lnTo>
                  <a:lnTo>
                    <a:pt x="22433280" y="1263446"/>
                  </a:lnTo>
                  <a:lnTo>
                    <a:pt x="0" y="12634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2194" b="-27974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2433280" cy="13491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Comandos usados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92640" y="6949440"/>
            <a:ext cx="731520" cy="694944"/>
            <a:chOff x="0" y="0"/>
            <a:chExt cx="975360" cy="9265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12603205" y="3257834"/>
            <a:ext cx="0" cy="7029166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14" name="AutoShape 14"/>
          <p:cNvSpPr/>
          <p:nvPr/>
        </p:nvSpPr>
        <p:spPr>
          <a:xfrm>
            <a:off x="6057273" y="3451539"/>
            <a:ext cx="0" cy="7029166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Box 15"/>
          <p:cNvSpPr txBox="1"/>
          <p:nvPr/>
        </p:nvSpPr>
        <p:spPr>
          <a:xfrm>
            <a:off x="421190" y="3687820"/>
            <a:ext cx="5416058" cy="422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 Crear rama de trabajo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 checkout develop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 checkout -b feature/conflictos</a:t>
            </a:r>
          </a:p>
          <a:p>
            <a:pPr algn="l">
              <a:lnSpc>
                <a:spcPts val="3311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311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 Fusionar conflicto-A (sin conflicto)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 merge feature/conflicto-A</a:t>
            </a:r>
          </a:p>
          <a:p>
            <a:pPr algn="l">
              <a:lnSpc>
                <a:spcPts val="3311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311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 Fusionar conflicto-B (genera CONFLICTO)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 merge feature/conflicto-B</a:t>
            </a:r>
          </a:p>
          <a:p>
            <a:pPr algn="l">
              <a:lnSpc>
                <a:spcPts val="3311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79360" y="3687820"/>
            <a:ext cx="5416058" cy="338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 Resolver conflicto manualmente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 add config.txt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 commit -m "merge: resolver conflicto entre conflicto-A y conflicto-B"</a:t>
            </a:r>
          </a:p>
          <a:p>
            <a:pPr algn="l">
              <a:lnSpc>
                <a:spcPts val="3311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 Subir cambios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 push origin feature/conflictos</a:t>
            </a:r>
          </a:p>
          <a:p>
            <a:pPr marL="518160" lvl="1" indent="-259080" algn="l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Comandos auxiliares utilizados:</a:t>
            </a:r>
          </a:p>
          <a:p>
            <a:pPr algn="l">
              <a:lnSpc>
                <a:spcPts val="3311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884648" y="3687820"/>
            <a:ext cx="5416058" cy="422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Comandos auxiliares utilizados:</a:t>
            </a:r>
          </a:p>
          <a:p>
            <a:pPr algn="l">
              <a:lnSpc>
                <a:spcPts val="3311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 Ver todas las ramas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 branch -a</a:t>
            </a:r>
          </a:p>
          <a:p>
            <a:pPr algn="l">
              <a:lnSpc>
                <a:spcPts val="3311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311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 Ver historial de commits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 log --oneline -10</a:t>
            </a:r>
          </a:p>
          <a:p>
            <a:pPr algn="l">
              <a:lnSpc>
                <a:spcPts val="3311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311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 Ver estado actual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 status</a:t>
            </a:r>
          </a:p>
          <a:p>
            <a:pPr algn="l">
              <a:lnSpc>
                <a:spcPts val="3311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Merge Conflict + Resolución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1346" y="2230996"/>
            <a:ext cx="14156069" cy="909228"/>
            <a:chOff x="0" y="0"/>
            <a:chExt cx="22433280" cy="14408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1440864"/>
            </a:xfrm>
            <a:custGeom>
              <a:avLst/>
              <a:gdLst/>
              <a:ahLst/>
              <a:cxnLst/>
              <a:rect l="l" t="t" r="r" b="b"/>
              <a:pathLst>
                <a:path w="22433280" h="1440864">
                  <a:moveTo>
                    <a:pt x="0" y="0"/>
                  </a:moveTo>
                  <a:lnTo>
                    <a:pt x="22433280" y="0"/>
                  </a:lnTo>
                  <a:lnTo>
                    <a:pt x="22433280" y="1440864"/>
                  </a:lnTo>
                  <a:lnTo>
                    <a:pt x="0" y="1440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753" b="-23298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149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41" lvl="1" indent="-280670" algn="l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Terminal con mensaje de conflicto git merge</a:t>
              </a:r>
            </a:p>
            <a:p>
              <a:pPr algn="l">
                <a:lnSpc>
                  <a:spcPts val="3120"/>
                </a:lnSpc>
              </a:pPr>
              <a:endParaRPr lang="en-US" sz="2600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2230996"/>
            <a:ext cx="16824960" cy="640080"/>
            <a:chOff x="0" y="0"/>
            <a:chExt cx="22433280" cy="853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41" lvl="1" indent="-280670" algn="l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Archivo config.txt con marcadores &lt;&lt;&lt;&lt;&lt;&lt;&lt; HEAD: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92640" y="6949440"/>
            <a:ext cx="731520" cy="694944"/>
            <a:chOff x="0" y="0"/>
            <a:chExt cx="975360" cy="9265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95163" y="3919568"/>
            <a:ext cx="8380227" cy="4086070"/>
          </a:xfrm>
          <a:custGeom>
            <a:avLst/>
            <a:gdLst/>
            <a:ahLst/>
            <a:cxnLst/>
            <a:rect l="l" t="t" r="r" b="b"/>
            <a:pathLst>
              <a:path w="8380227" h="4086070">
                <a:moveTo>
                  <a:pt x="0" y="0"/>
                </a:moveTo>
                <a:lnTo>
                  <a:pt x="8380227" y="0"/>
                </a:lnTo>
                <a:lnTo>
                  <a:pt x="8380227" y="4086070"/>
                </a:lnTo>
                <a:lnTo>
                  <a:pt x="0" y="4086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7" name="Freeform 17"/>
          <p:cNvSpPr/>
          <p:nvPr/>
        </p:nvSpPr>
        <p:spPr>
          <a:xfrm>
            <a:off x="8846820" y="3816500"/>
            <a:ext cx="9156706" cy="4292206"/>
          </a:xfrm>
          <a:custGeom>
            <a:avLst/>
            <a:gdLst/>
            <a:ahLst/>
            <a:cxnLst/>
            <a:rect l="l" t="t" r="r" b="b"/>
            <a:pathLst>
              <a:path w="9156706" h="4292206">
                <a:moveTo>
                  <a:pt x="0" y="0"/>
                </a:moveTo>
                <a:lnTo>
                  <a:pt x="9156706" y="0"/>
                </a:lnTo>
                <a:lnTo>
                  <a:pt x="9156706" y="4292206"/>
                </a:lnTo>
                <a:lnTo>
                  <a:pt x="0" y="42922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8" name="AutoShape 18"/>
          <p:cNvSpPr/>
          <p:nvPr/>
        </p:nvSpPr>
        <p:spPr>
          <a:xfrm>
            <a:off x="8692073" y="2231043"/>
            <a:ext cx="38064" cy="776126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Merge Conflict + Resolución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1346" y="2230996"/>
            <a:ext cx="14156069" cy="909228"/>
            <a:chOff x="0" y="0"/>
            <a:chExt cx="22433280" cy="14408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1440864"/>
            </a:xfrm>
            <a:custGeom>
              <a:avLst/>
              <a:gdLst/>
              <a:ahLst/>
              <a:cxnLst/>
              <a:rect l="l" t="t" r="r" b="b"/>
              <a:pathLst>
                <a:path w="22433280" h="1440864">
                  <a:moveTo>
                    <a:pt x="0" y="0"/>
                  </a:moveTo>
                  <a:lnTo>
                    <a:pt x="22433280" y="0"/>
                  </a:lnTo>
                  <a:lnTo>
                    <a:pt x="22433280" y="1440864"/>
                  </a:lnTo>
                  <a:lnTo>
                    <a:pt x="0" y="1440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753" b="-23298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149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41" lvl="1" indent="-280670" algn="l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Code con Source Control y conflicto:</a:t>
              </a:r>
            </a:p>
            <a:p>
              <a:pPr algn="l">
                <a:lnSpc>
                  <a:spcPts val="3120"/>
                </a:lnSpc>
              </a:pPr>
              <a:endParaRPr lang="en-US" sz="2600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2230996"/>
            <a:ext cx="16824960" cy="640080"/>
            <a:chOff x="0" y="0"/>
            <a:chExt cx="22433280" cy="853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41" lvl="1" indent="-280670" algn="l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Botón "Merge pull request":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92640" y="6949440"/>
            <a:ext cx="731520" cy="694944"/>
            <a:chOff x="0" y="0"/>
            <a:chExt cx="975360" cy="9265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8692073" y="2231043"/>
            <a:ext cx="38064" cy="776126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17" name="Freeform 17"/>
          <p:cNvSpPr/>
          <p:nvPr/>
        </p:nvSpPr>
        <p:spPr>
          <a:xfrm>
            <a:off x="561346" y="3111317"/>
            <a:ext cx="7927551" cy="6146983"/>
          </a:xfrm>
          <a:custGeom>
            <a:avLst/>
            <a:gdLst/>
            <a:ahLst/>
            <a:cxnLst/>
            <a:rect l="l" t="t" r="r" b="b"/>
            <a:pathLst>
              <a:path w="7927551" h="6146983">
                <a:moveTo>
                  <a:pt x="0" y="0"/>
                </a:moveTo>
                <a:lnTo>
                  <a:pt x="7927551" y="0"/>
                </a:lnTo>
                <a:lnTo>
                  <a:pt x="7927551" y="6146983"/>
                </a:lnTo>
                <a:lnTo>
                  <a:pt x="0" y="6146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8" name="Freeform 18"/>
          <p:cNvSpPr/>
          <p:nvPr/>
        </p:nvSpPr>
        <p:spPr>
          <a:xfrm>
            <a:off x="9144000" y="3287838"/>
            <a:ext cx="8930931" cy="5793942"/>
          </a:xfrm>
          <a:custGeom>
            <a:avLst/>
            <a:gdLst/>
            <a:ahLst/>
            <a:cxnLst/>
            <a:rect l="l" t="t" r="r" b="b"/>
            <a:pathLst>
              <a:path w="8930931" h="5793942">
                <a:moveTo>
                  <a:pt x="0" y="0"/>
                </a:moveTo>
                <a:lnTo>
                  <a:pt x="8930931" y="0"/>
                </a:lnTo>
                <a:lnTo>
                  <a:pt x="8930931" y="5793941"/>
                </a:lnTo>
                <a:lnTo>
                  <a:pt x="0" y="5793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Merge Conflict + Resolución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1346" y="2230996"/>
            <a:ext cx="14156069" cy="909228"/>
            <a:chOff x="0" y="0"/>
            <a:chExt cx="22433280" cy="14408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1440864"/>
            </a:xfrm>
            <a:custGeom>
              <a:avLst/>
              <a:gdLst/>
              <a:ahLst/>
              <a:cxnLst/>
              <a:rect l="l" t="t" r="r" b="b"/>
              <a:pathLst>
                <a:path w="22433280" h="1440864">
                  <a:moveTo>
                    <a:pt x="0" y="0"/>
                  </a:moveTo>
                  <a:lnTo>
                    <a:pt x="22433280" y="0"/>
                  </a:lnTo>
                  <a:lnTo>
                    <a:pt x="22433280" y="1440864"/>
                  </a:lnTo>
                  <a:lnTo>
                    <a:pt x="0" y="1440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753" b="-23298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149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41" lvl="1" indent="-280670" algn="l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Issue #12 cerrado automáticamente:</a:t>
              </a:r>
            </a:p>
            <a:p>
              <a:pPr algn="l">
                <a:lnSpc>
                  <a:spcPts val="3120"/>
                </a:lnSpc>
              </a:pPr>
              <a:endParaRPr lang="en-US" sz="2600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2230996"/>
            <a:ext cx="16824960" cy="640080"/>
            <a:chOff x="0" y="0"/>
            <a:chExt cx="22433280" cy="853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41" lvl="1" indent="-280670" algn="l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Ramas que participaron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92640" y="6949440"/>
            <a:ext cx="731520" cy="694944"/>
            <a:chOff x="0" y="0"/>
            <a:chExt cx="975360" cy="9265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8692073" y="2231043"/>
            <a:ext cx="38064" cy="776126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17" name="Freeform 17"/>
          <p:cNvSpPr/>
          <p:nvPr/>
        </p:nvSpPr>
        <p:spPr>
          <a:xfrm>
            <a:off x="423653" y="3212168"/>
            <a:ext cx="8088817" cy="5945281"/>
          </a:xfrm>
          <a:custGeom>
            <a:avLst/>
            <a:gdLst/>
            <a:ahLst/>
            <a:cxnLst/>
            <a:rect l="l" t="t" r="r" b="b"/>
            <a:pathLst>
              <a:path w="8088817" h="5945281">
                <a:moveTo>
                  <a:pt x="0" y="0"/>
                </a:moveTo>
                <a:lnTo>
                  <a:pt x="8088818" y="0"/>
                </a:lnTo>
                <a:lnTo>
                  <a:pt x="8088818" y="5945281"/>
                </a:lnTo>
                <a:lnTo>
                  <a:pt x="0" y="59452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8" name="Freeform 18"/>
          <p:cNvSpPr/>
          <p:nvPr/>
        </p:nvSpPr>
        <p:spPr>
          <a:xfrm>
            <a:off x="8911112" y="3816500"/>
            <a:ext cx="9044009" cy="4631940"/>
          </a:xfrm>
          <a:custGeom>
            <a:avLst/>
            <a:gdLst/>
            <a:ahLst/>
            <a:cxnLst/>
            <a:rect l="l" t="t" r="r" b="b"/>
            <a:pathLst>
              <a:path w="9044009" h="4631940">
                <a:moveTo>
                  <a:pt x="0" y="0"/>
                </a:moveTo>
                <a:lnTo>
                  <a:pt x="9044009" y="0"/>
                </a:lnTo>
                <a:lnTo>
                  <a:pt x="9044009" y="4631940"/>
                </a:lnTo>
                <a:lnTo>
                  <a:pt x="0" y="4631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Merge Conflict + Resolución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1346" y="2230996"/>
            <a:ext cx="14156069" cy="909228"/>
            <a:chOff x="0" y="0"/>
            <a:chExt cx="22433280" cy="14408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1440864"/>
            </a:xfrm>
            <a:custGeom>
              <a:avLst/>
              <a:gdLst/>
              <a:ahLst/>
              <a:cxnLst/>
              <a:rect l="l" t="t" r="r" b="b"/>
              <a:pathLst>
                <a:path w="22433280" h="1440864">
                  <a:moveTo>
                    <a:pt x="0" y="0"/>
                  </a:moveTo>
                  <a:lnTo>
                    <a:pt x="22433280" y="0"/>
                  </a:lnTo>
                  <a:lnTo>
                    <a:pt x="22433280" y="1440864"/>
                  </a:lnTo>
                  <a:lnTo>
                    <a:pt x="0" y="1440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753" b="-23298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149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41" lvl="1" indent="-280670" algn="l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Historial de commits</a:t>
              </a:r>
            </a:p>
            <a:p>
              <a:pPr algn="l">
                <a:lnSpc>
                  <a:spcPts val="3120"/>
                </a:lnSpc>
              </a:pPr>
              <a:endParaRPr lang="en-US" sz="2600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74592" y="6007820"/>
            <a:ext cx="8277166" cy="909228"/>
            <a:chOff x="0" y="0"/>
            <a:chExt cx="22433280" cy="12123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33280" cy="1212304"/>
            </a:xfrm>
            <a:custGeom>
              <a:avLst/>
              <a:gdLst/>
              <a:ahLst/>
              <a:cxnLst/>
              <a:rect l="l" t="t" r="r" b="b"/>
              <a:pathLst>
                <a:path w="22433280" h="1212304">
                  <a:moveTo>
                    <a:pt x="0" y="0"/>
                  </a:moveTo>
                  <a:lnTo>
                    <a:pt x="22433280" y="0"/>
                  </a:lnTo>
                  <a:lnTo>
                    <a:pt x="22433280" y="1212304"/>
                  </a:lnTo>
                  <a:lnTo>
                    <a:pt x="0" y="1212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5364" b="-29576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433280" cy="12694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41" lvl="1" indent="-280670" algn="l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Resolución final del conflicto:</a:t>
              </a:r>
            </a:p>
            <a:p>
              <a:pPr algn="l">
                <a:lnSpc>
                  <a:spcPts val="3120"/>
                </a:lnSpc>
              </a:pPr>
              <a:endParaRPr lang="en-US" sz="2600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6" name="AutoShape 16"/>
          <p:cNvSpPr/>
          <p:nvPr/>
        </p:nvSpPr>
        <p:spPr>
          <a:xfrm>
            <a:off x="8692073" y="2231043"/>
            <a:ext cx="38064" cy="776126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17" name="Freeform 17"/>
          <p:cNvSpPr/>
          <p:nvPr/>
        </p:nvSpPr>
        <p:spPr>
          <a:xfrm>
            <a:off x="274592" y="3140225"/>
            <a:ext cx="8277166" cy="2191320"/>
          </a:xfrm>
          <a:custGeom>
            <a:avLst/>
            <a:gdLst/>
            <a:ahLst/>
            <a:cxnLst/>
            <a:rect l="l" t="t" r="r" b="b"/>
            <a:pathLst>
              <a:path w="8277166" h="2191320">
                <a:moveTo>
                  <a:pt x="0" y="0"/>
                </a:moveTo>
                <a:lnTo>
                  <a:pt x="8277166" y="0"/>
                </a:lnTo>
                <a:lnTo>
                  <a:pt x="8277166" y="2191320"/>
                </a:lnTo>
                <a:lnTo>
                  <a:pt x="0" y="2191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8" name="Freeform 18"/>
          <p:cNvSpPr/>
          <p:nvPr/>
        </p:nvSpPr>
        <p:spPr>
          <a:xfrm>
            <a:off x="313960" y="6949440"/>
            <a:ext cx="8416177" cy="1405086"/>
          </a:xfrm>
          <a:custGeom>
            <a:avLst/>
            <a:gdLst/>
            <a:ahLst/>
            <a:cxnLst/>
            <a:rect l="l" t="t" r="r" b="b"/>
            <a:pathLst>
              <a:path w="8416177" h="1405086">
                <a:moveTo>
                  <a:pt x="0" y="0"/>
                </a:moveTo>
                <a:lnTo>
                  <a:pt x="8416177" y="0"/>
                </a:lnTo>
                <a:lnTo>
                  <a:pt x="8416177" y="1405086"/>
                </a:lnTo>
                <a:lnTo>
                  <a:pt x="0" y="14050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19" name="Group 19"/>
          <p:cNvGrpSpPr/>
          <p:nvPr/>
        </p:nvGrpSpPr>
        <p:grpSpPr>
          <a:xfrm>
            <a:off x="9384638" y="2231043"/>
            <a:ext cx="14156069" cy="909228"/>
            <a:chOff x="0" y="0"/>
            <a:chExt cx="22433280" cy="14408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433280" cy="1440864"/>
            </a:xfrm>
            <a:custGeom>
              <a:avLst/>
              <a:gdLst/>
              <a:ahLst/>
              <a:cxnLst/>
              <a:rect l="l" t="t" r="r" b="b"/>
              <a:pathLst>
                <a:path w="22433280" h="1440864">
                  <a:moveTo>
                    <a:pt x="0" y="0"/>
                  </a:moveTo>
                  <a:lnTo>
                    <a:pt x="22433280" y="0"/>
                  </a:lnTo>
                  <a:lnTo>
                    <a:pt x="22433280" y="1440864"/>
                  </a:lnTo>
                  <a:lnTo>
                    <a:pt x="0" y="1440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753" b="-23298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2433280" cy="149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41" lvl="1" indent="-280670" algn="l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Conflictos pendientes</a:t>
              </a:r>
            </a:p>
            <a:p>
              <a:pPr algn="l">
                <a:lnSpc>
                  <a:spcPts val="3120"/>
                </a:lnSpc>
              </a:pPr>
              <a:endParaRPr lang="en-US" sz="2600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8873012" y="3435546"/>
            <a:ext cx="9188222" cy="1283534"/>
          </a:xfrm>
          <a:custGeom>
            <a:avLst/>
            <a:gdLst/>
            <a:ahLst/>
            <a:cxnLst/>
            <a:rect l="l" t="t" r="r" b="b"/>
            <a:pathLst>
              <a:path w="9188222" h="1283534">
                <a:moveTo>
                  <a:pt x="0" y="0"/>
                </a:moveTo>
                <a:lnTo>
                  <a:pt x="9188222" y="0"/>
                </a:lnTo>
                <a:lnTo>
                  <a:pt x="9188222" y="1283534"/>
                </a:lnTo>
                <a:lnTo>
                  <a:pt x="0" y="12835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Merge Conflict + Resolución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65966" y="2165662"/>
            <a:ext cx="14156069" cy="538546"/>
            <a:chOff x="0" y="0"/>
            <a:chExt cx="2243328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178" b="-46217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41" lvl="1" indent="-280670" algn="l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Issue #12 cerrado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92640" y="6949440"/>
            <a:ext cx="731520" cy="694944"/>
            <a:chOff x="0" y="0"/>
            <a:chExt cx="975360" cy="9265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4771047" y="2936923"/>
            <a:ext cx="8745916" cy="7146775"/>
          </a:xfrm>
          <a:custGeom>
            <a:avLst/>
            <a:gdLst/>
            <a:ahLst/>
            <a:cxnLst/>
            <a:rect l="l" t="t" r="r" b="b"/>
            <a:pathLst>
              <a:path w="8745916" h="7146775">
                <a:moveTo>
                  <a:pt x="0" y="0"/>
                </a:moveTo>
                <a:lnTo>
                  <a:pt x="8745916" y="0"/>
                </a:lnTo>
                <a:lnTo>
                  <a:pt x="8745916" y="7146775"/>
                </a:lnTo>
                <a:lnTo>
                  <a:pt x="0" y="7146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243328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Merge Conflict + Resolución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1346" y="2230996"/>
            <a:ext cx="14156069" cy="909228"/>
            <a:chOff x="0" y="0"/>
            <a:chExt cx="22433280" cy="14408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1440864"/>
            </a:xfrm>
            <a:custGeom>
              <a:avLst/>
              <a:gdLst/>
              <a:ahLst/>
              <a:cxnLst/>
              <a:rect l="l" t="t" r="r" b="b"/>
              <a:pathLst>
                <a:path w="22433280" h="1440864">
                  <a:moveTo>
                    <a:pt x="0" y="0"/>
                  </a:moveTo>
                  <a:lnTo>
                    <a:pt x="22433280" y="0"/>
                  </a:lnTo>
                  <a:lnTo>
                    <a:pt x="22433280" y="1440864"/>
                  </a:lnTo>
                  <a:lnTo>
                    <a:pt x="0" y="1440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753" b="-23298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149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1340" lvl="1" indent="-280670" algn="l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Kanban - Tarea en Done</a:t>
              </a:r>
            </a:p>
            <a:p>
              <a:pPr algn="l">
                <a:lnSpc>
                  <a:spcPts val="3120"/>
                </a:lnSpc>
              </a:pPr>
              <a:endParaRPr lang="en-US" sz="2600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92640" y="6949440"/>
            <a:ext cx="731520" cy="694944"/>
            <a:chOff x="0" y="0"/>
            <a:chExt cx="975360" cy="9265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5360" cy="926592"/>
            </a:xfrm>
            <a:custGeom>
              <a:avLst/>
              <a:gdLst/>
              <a:ahLst/>
              <a:cxnLst/>
              <a:rect l="l" t="t" r="r" b="b"/>
              <a:pathLst>
                <a:path w="975360" h="926592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888" r="-718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753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809675" y="3140225"/>
            <a:ext cx="13765929" cy="6332328"/>
          </a:xfrm>
          <a:custGeom>
            <a:avLst/>
            <a:gdLst/>
            <a:ahLst/>
            <a:cxnLst/>
            <a:rect l="l" t="t" r="r" b="b"/>
            <a:pathLst>
              <a:path w="13765929" h="6332328">
                <a:moveTo>
                  <a:pt x="0" y="0"/>
                </a:moveTo>
                <a:lnTo>
                  <a:pt x="13765930" y="0"/>
                </a:lnTo>
                <a:lnTo>
                  <a:pt x="13765930" y="6332327"/>
                </a:lnTo>
                <a:lnTo>
                  <a:pt x="0" y="63323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21547"/>
            <a:chOff x="0" y="0"/>
            <a:chExt cx="472783" cy="137620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62101"/>
            </a:xfrm>
            <a:custGeom>
              <a:avLst/>
              <a:gdLst/>
              <a:ahLst/>
              <a:cxnLst/>
              <a:rect l="l" t="t" r="r" b="b"/>
              <a:pathLst>
                <a:path w="472821" h="13762101">
                  <a:moveTo>
                    <a:pt x="0" y="0"/>
                  </a:moveTo>
                  <a:lnTo>
                    <a:pt x="472821" y="0"/>
                  </a:lnTo>
                  <a:lnTo>
                    <a:pt x="472821" y="13762101"/>
                  </a:lnTo>
                  <a:lnTo>
                    <a:pt x="0" y="13762101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27432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2433280" cy="1708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Flujo Git del Proyecto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1703" y="1816103"/>
            <a:ext cx="5877563" cy="793499"/>
            <a:chOff x="0" y="0"/>
            <a:chExt cx="7836751" cy="10579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36789" cy="1058037"/>
            </a:xfrm>
            <a:custGeom>
              <a:avLst/>
              <a:gdLst/>
              <a:ahLst/>
              <a:cxnLst/>
              <a:rect l="l" t="t" r="r" b="b"/>
              <a:pathLst>
                <a:path w="7836789" h="1058037">
                  <a:moveTo>
                    <a:pt x="0" y="0"/>
                  </a:moveTo>
                  <a:lnTo>
                    <a:pt x="7836789" y="0"/>
                  </a:lnTo>
                  <a:lnTo>
                    <a:pt x="78367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7280" y="1920240"/>
            <a:ext cx="5486400" cy="585216"/>
            <a:chOff x="0" y="0"/>
            <a:chExt cx="7315200" cy="7802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7315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main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47510" y="2193798"/>
            <a:ext cx="1866900" cy="38100"/>
            <a:chOff x="0" y="0"/>
            <a:chExt cx="2489200" cy="50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89200" cy="50800"/>
            </a:xfrm>
            <a:custGeom>
              <a:avLst/>
              <a:gdLst/>
              <a:ahLst/>
              <a:cxnLst/>
              <a:rect l="l" t="t" r="r" b="b"/>
              <a:pathLst>
                <a:path w="2489200" h="50800">
                  <a:moveTo>
                    <a:pt x="0" y="0"/>
                  </a:moveTo>
                  <a:lnTo>
                    <a:pt x="24892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904766" b="-904766"/>
              </a:stretch>
            </a:blipFill>
            <a:ln w="381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78240" y="1920240"/>
            <a:ext cx="8778240" cy="585216"/>
            <a:chOff x="0" y="0"/>
            <a:chExt cx="1170432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704320" cy="780288"/>
            </a:xfrm>
            <a:custGeom>
              <a:avLst/>
              <a:gdLst/>
              <a:ahLst/>
              <a:cxnLst/>
              <a:rect l="l" t="t" r="r" b="b"/>
              <a:pathLst>
                <a:path w="11704320" h="780288">
                  <a:moveTo>
                    <a:pt x="0" y="0"/>
                  </a:moveTo>
                  <a:lnTo>
                    <a:pt x="11704320" y="0"/>
                  </a:lnTo>
                  <a:lnTo>
                    <a:pt x="11704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1704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Rama principal de producción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01703" y="3279143"/>
            <a:ext cx="5877563" cy="793499"/>
            <a:chOff x="0" y="0"/>
            <a:chExt cx="7836751" cy="10579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36789" cy="1058037"/>
            </a:xfrm>
            <a:custGeom>
              <a:avLst/>
              <a:gdLst/>
              <a:ahLst/>
              <a:cxnLst/>
              <a:rect l="l" t="t" r="r" b="b"/>
              <a:pathLst>
                <a:path w="7836789" h="1058037">
                  <a:moveTo>
                    <a:pt x="0" y="0"/>
                  </a:moveTo>
                  <a:lnTo>
                    <a:pt x="7836789" y="0"/>
                  </a:lnTo>
                  <a:lnTo>
                    <a:pt x="78367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97280" y="3383280"/>
            <a:ext cx="5486400" cy="585216"/>
            <a:chOff x="0" y="0"/>
            <a:chExt cx="7315200" cy="7802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315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develop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47510" y="3656838"/>
            <a:ext cx="1866900" cy="38100"/>
            <a:chOff x="0" y="0"/>
            <a:chExt cx="2489200" cy="50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489200" cy="50800"/>
            </a:xfrm>
            <a:custGeom>
              <a:avLst/>
              <a:gdLst/>
              <a:ahLst/>
              <a:cxnLst/>
              <a:rect l="l" t="t" r="r" b="b"/>
              <a:pathLst>
                <a:path w="2489200" h="50800">
                  <a:moveTo>
                    <a:pt x="0" y="0"/>
                  </a:moveTo>
                  <a:lnTo>
                    <a:pt x="24892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904766" b="-904766"/>
              </a:stretch>
            </a:blipFill>
            <a:ln w="381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778240" y="3383280"/>
            <a:ext cx="8778240" cy="585216"/>
            <a:chOff x="0" y="0"/>
            <a:chExt cx="11704320" cy="7802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704320" cy="780288"/>
            </a:xfrm>
            <a:custGeom>
              <a:avLst/>
              <a:gdLst/>
              <a:ahLst/>
              <a:cxnLst/>
              <a:rect l="l" t="t" r="r" b="b"/>
              <a:pathLst>
                <a:path w="11704320" h="780288">
                  <a:moveTo>
                    <a:pt x="0" y="0"/>
                  </a:moveTo>
                  <a:lnTo>
                    <a:pt x="11704320" y="0"/>
                  </a:lnTo>
                  <a:lnTo>
                    <a:pt x="11704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1704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Rama de integración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01703" y="4742183"/>
            <a:ext cx="5877563" cy="793499"/>
            <a:chOff x="0" y="0"/>
            <a:chExt cx="7836751" cy="105799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836789" cy="1058037"/>
            </a:xfrm>
            <a:custGeom>
              <a:avLst/>
              <a:gdLst/>
              <a:ahLst/>
              <a:cxnLst/>
              <a:rect l="l" t="t" r="r" b="b"/>
              <a:pathLst>
                <a:path w="7836789" h="1058037">
                  <a:moveTo>
                    <a:pt x="0" y="0"/>
                  </a:moveTo>
                  <a:lnTo>
                    <a:pt x="7836789" y="0"/>
                  </a:lnTo>
                  <a:lnTo>
                    <a:pt x="78367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97280" y="4846320"/>
            <a:ext cx="5486400" cy="585216"/>
            <a:chOff x="0" y="0"/>
            <a:chExt cx="7315200" cy="7802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7315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feature/productos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47510" y="5119878"/>
            <a:ext cx="1866900" cy="38100"/>
            <a:chOff x="0" y="0"/>
            <a:chExt cx="2489200" cy="50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489200" cy="50800"/>
            </a:xfrm>
            <a:custGeom>
              <a:avLst/>
              <a:gdLst/>
              <a:ahLst/>
              <a:cxnLst/>
              <a:rect l="l" t="t" r="r" b="b"/>
              <a:pathLst>
                <a:path w="2489200" h="50800">
                  <a:moveTo>
                    <a:pt x="0" y="0"/>
                  </a:moveTo>
                  <a:lnTo>
                    <a:pt x="24892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904766" b="-904766"/>
              </a:stretch>
            </a:blipFill>
            <a:ln w="3810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778240" y="4846320"/>
            <a:ext cx="8778240" cy="585216"/>
            <a:chOff x="0" y="0"/>
            <a:chExt cx="11704320" cy="78028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704320" cy="780288"/>
            </a:xfrm>
            <a:custGeom>
              <a:avLst/>
              <a:gdLst/>
              <a:ahLst/>
              <a:cxnLst/>
              <a:rect l="l" t="t" r="r" b="b"/>
              <a:pathLst>
                <a:path w="11704320" h="780288">
                  <a:moveTo>
                    <a:pt x="0" y="0"/>
                  </a:moveTo>
                  <a:lnTo>
                    <a:pt x="11704320" y="0"/>
                  </a:lnTo>
                  <a:lnTo>
                    <a:pt x="11704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11704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Módulo REST de Productos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01703" y="5656583"/>
            <a:ext cx="5877563" cy="793499"/>
            <a:chOff x="0" y="0"/>
            <a:chExt cx="7836751" cy="105799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836789" cy="1058037"/>
            </a:xfrm>
            <a:custGeom>
              <a:avLst/>
              <a:gdLst/>
              <a:ahLst/>
              <a:cxnLst/>
              <a:rect l="l" t="t" r="r" b="b"/>
              <a:pathLst>
                <a:path w="7836789" h="1058037">
                  <a:moveTo>
                    <a:pt x="0" y="0"/>
                  </a:moveTo>
                  <a:lnTo>
                    <a:pt x="7836789" y="0"/>
                  </a:lnTo>
                  <a:lnTo>
                    <a:pt x="78367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8B5CF6"/>
            </a:solidFill>
            <a:ln w="25400" cap="sq">
              <a:solidFill>
                <a:srgbClr val="8B5CF6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7280" y="5760720"/>
            <a:ext cx="5486400" cy="585216"/>
            <a:chOff x="0" y="0"/>
            <a:chExt cx="7315200" cy="78028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7315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feature/pedidos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47510" y="6034278"/>
            <a:ext cx="1866900" cy="38100"/>
            <a:chOff x="0" y="0"/>
            <a:chExt cx="2489200" cy="50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489200" cy="50800"/>
            </a:xfrm>
            <a:custGeom>
              <a:avLst/>
              <a:gdLst/>
              <a:ahLst/>
              <a:cxnLst/>
              <a:rect l="l" t="t" r="r" b="b"/>
              <a:pathLst>
                <a:path w="2489200" h="50800">
                  <a:moveTo>
                    <a:pt x="0" y="0"/>
                  </a:moveTo>
                  <a:lnTo>
                    <a:pt x="24892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904766" b="-904766"/>
              </a:stretch>
            </a:blipFill>
            <a:ln w="38100" cap="sq">
              <a:solidFill>
                <a:srgbClr val="8B5CF6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778240" y="5760720"/>
            <a:ext cx="8778240" cy="585216"/>
            <a:chOff x="0" y="0"/>
            <a:chExt cx="11704320" cy="78028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704320" cy="780288"/>
            </a:xfrm>
            <a:custGeom>
              <a:avLst/>
              <a:gdLst/>
              <a:ahLst/>
              <a:cxnLst/>
              <a:rect l="l" t="t" r="r" b="b"/>
              <a:pathLst>
                <a:path w="11704320" h="780288">
                  <a:moveTo>
                    <a:pt x="0" y="0"/>
                  </a:moveTo>
                  <a:lnTo>
                    <a:pt x="11704320" y="0"/>
                  </a:lnTo>
                  <a:lnTo>
                    <a:pt x="11704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11704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Módulo REST de Pedidos / Ventas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01703" y="6570983"/>
            <a:ext cx="5877563" cy="793499"/>
            <a:chOff x="0" y="0"/>
            <a:chExt cx="7836751" cy="105799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836789" cy="1058037"/>
            </a:xfrm>
            <a:custGeom>
              <a:avLst/>
              <a:gdLst/>
              <a:ahLst/>
              <a:cxnLst/>
              <a:rect l="l" t="t" r="r" b="b"/>
              <a:pathLst>
                <a:path w="7836789" h="1058037">
                  <a:moveTo>
                    <a:pt x="0" y="0"/>
                  </a:moveTo>
                  <a:lnTo>
                    <a:pt x="7836789" y="0"/>
                  </a:lnTo>
                  <a:lnTo>
                    <a:pt x="78367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97280" y="6675120"/>
            <a:ext cx="5486400" cy="585216"/>
            <a:chOff x="0" y="0"/>
            <a:chExt cx="7315200" cy="78028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7315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feature/swagger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747510" y="6948678"/>
            <a:ext cx="1866900" cy="38100"/>
            <a:chOff x="0" y="0"/>
            <a:chExt cx="2489200" cy="50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489200" cy="50800"/>
            </a:xfrm>
            <a:custGeom>
              <a:avLst/>
              <a:gdLst/>
              <a:ahLst/>
              <a:cxnLst/>
              <a:rect l="l" t="t" r="r" b="b"/>
              <a:pathLst>
                <a:path w="2489200" h="50800">
                  <a:moveTo>
                    <a:pt x="0" y="0"/>
                  </a:moveTo>
                  <a:lnTo>
                    <a:pt x="24892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904766" b="-904766"/>
              </a:stretch>
            </a:blipFill>
            <a:ln w="3810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778240" y="6675120"/>
            <a:ext cx="8778240" cy="585216"/>
            <a:chOff x="0" y="0"/>
            <a:chExt cx="11704320" cy="78028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704320" cy="780288"/>
            </a:xfrm>
            <a:custGeom>
              <a:avLst/>
              <a:gdLst/>
              <a:ahLst/>
              <a:cxnLst/>
              <a:rect l="l" t="t" r="r" b="b"/>
              <a:pathLst>
                <a:path w="11704320" h="780288">
                  <a:moveTo>
                    <a:pt x="0" y="0"/>
                  </a:moveTo>
                  <a:lnTo>
                    <a:pt x="11704320" y="0"/>
                  </a:lnTo>
                  <a:lnTo>
                    <a:pt x="11704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11704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Integración de Swagger/OpenAPI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01703" y="7485383"/>
            <a:ext cx="5877563" cy="793499"/>
            <a:chOff x="0" y="0"/>
            <a:chExt cx="7836751" cy="105799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836789" cy="1058037"/>
            </a:xfrm>
            <a:custGeom>
              <a:avLst/>
              <a:gdLst/>
              <a:ahLst/>
              <a:cxnLst/>
              <a:rect l="l" t="t" r="r" b="b"/>
              <a:pathLst>
                <a:path w="7836789" h="1058037">
                  <a:moveTo>
                    <a:pt x="0" y="0"/>
                  </a:moveTo>
                  <a:lnTo>
                    <a:pt x="7836789" y="0"/>
                  </a:lnTo>
                  <a:lnTo>
                    <a:pt x="78367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97280" y="7589520"/>
            <a:ext cx="5486400" cy="585216"/>
            <a:chOff x="0" y="0"/>
            <a:chExt cx="7315200" cy="78028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7315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feature/conflictos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747510" y="7863078"/>
            <a:ext cx="1866900" cy="38100"/>
            <a:chOff x="0" y="0"/>
            <a:chExt cx="2489200" cy="508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489200" cy="50800"/>
            </a:xfrm>
            <a:custGeom>
              <a:avLst/>
              <a:gdLst/>
              <a:ahLst/>
              <a:cxnLst/>
              <a:rect l="l" t="t" r="r" b="b"/>
              <a:pathLst>
                <a:path w="2489200" h="50800">
                  <a:moveTo>
                    <a:pt x="0" y="0"/>
                  </a:moveTo>
                  <a:lnTo>
                    <a:pt x="24892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904766" b="-904766"/>
              </a:stretch>
            </a:blipFill>
            <a:ln w="38100" cap="sq">
              <a:solidFill>
                <a:srgbClr val="EF4444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778240" y="7589520"/>
            <a:ext cx="8778240" cy="585216"/>
            <a:chOff x="0" y="0"/>
            <a:chExt cx="11704320" cy="78028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1704320" cy="780288"/>
            </a:xfrm>
            <a:custGeom>
              <a:avLst/>
              <a:gdLst/>
              <a:ahLst/>
              <a:cxnLst/>
              <a:rect l="l" t="t" r="r" b="b"/>
              <a:pathLst>
                <a:path w="11704320" h="780288">
                  <a:moveTo>
                    <a:pt x="0" y="0"/>
                  </a:moveTo>
                  <a:lnTo>
                    <a:pt x="11704320" y="0"/>
                  </a:lnTo>
                  <a:lnTo>
                    <a:pt x="11704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57150"/>
              <a:ext cx="11704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Simulación y resolución de conflicto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01703" y="8399783"/>
            <a:ext cx="5877563" cy="793499"/>
            <a:chOff x="0" y="0"/>
            <a:chExt cx="7836751" cy="1057999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836789" cy="1058037"/>
            </a:xfrm>
            <a:custGeom>
              <a:avLst/>
              <a:gdLst/>
              <a:ahLst/>
              <a:cxnLst/>
              <a:rect l="l" t="t" r="r" b="b"/>
              <a:pathLst>
                <a:path w="7836789" h="1058037">
                  <a:moveTo>
                    <a:pt x="0" y="0"/>
                  </a:moveTo>
                  <a:lnTo>
                    <a:pt x="7836789" y="0"/>
                  </a:lnTo>
                  <a:lnTo>
                    <a:pt x="78367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97280" y="8503920"/>
            <a:ext cx="5486400" cy="585216"/>
            <a:chOff x="0" y="0"/>
            <a:chExt cx="7315200" cy="78028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315200" cy="780288"/>
            </a:xfrm>
            <a:custGeom>
              <a:avLst/>
              <a:gdLst/>
              <a:ahLst/>
              <a:cxnLst/>
              <a:rect l="l" t="t" r="r" b="b"/>
              <a:pathLst>
                <a:path w="7315200" h="780288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47625"/>
              <a:ext cx="7315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feature/kanban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747510" y="8777478"/>
            <a:ext cx="1866900" cy="38100"/>
            <a:chOff x="0" y="0"/>
            <a:chExt cx="2489200" cy="508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489200" cy="50800"/>
            </a:xfrm>
            <a:custGeom>
              <a:avLst/>
              <a:gdLst/>
              <a:ahLst/>
              <a:cxnLst/>
              <a:rect l="l" t="t" r="r" b="b"/>
              <a:pathLst>
                <a:path w="2489200" h="50800">
                  <a:moveTo>
                    <a:pt x="0" y="0"/>
                  </a:moveTo>
                  <a:lnTo>
                    <a:pt x="24892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904766" b="-904766"/>
              </a:stretch>
            </a:blipFill>
            <a:ln w="38100" cap="sq">
              <a:solidFill>
                <a:srgbClr val="10B981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778240" y="8503920"/>
            <a:ext cx="8778240" cy="585216"/>
            <a:chOff x="0" y="0"/>
            <a:chExt cx="11704320" cy="78028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1704320" cy="780288"/>
            </a:xfrm>
            <a:custGeom>
              <a:avLst/>
              <a:gdLst/>
              <a:ahLst/>
              <a:cxnLst/>
              <a:rect l="l" t="t" r="r" b="b"/>
              <a:pathLst>
                <a:path w="11704320" h="780288">
                  <a:moveTo>
                    <a:pt x="0" y="0"/>
                  </a:moveTo>
                  <a:lnTo>
                    <a:pt x="11704320" y="0"/>
                  </a:lnTo>
                  <a:lnTo>
                    <a:pt x="11704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57150"/>
              <a:ext cx="11704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ágil del tablero Kanban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14400" y="9326880"/>
            <a:ext cx="16459200" cy="981970"/>
            <a:chOff x="0" y="0"/>
            <a:chExt cx="21945600" cy="130929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1945600" cy="1309294"/>
            </a:xfrm>
            <a:custGeom>
              <a:avLst/>
              <a:gdLst/>
              <a:ahLst/>
              <a:cxnLst/>
              <a:rect l="l" t="t" r="r" b="b"/>
              <a:pathLst>
                <a:path w="21945600" h="1309294">
                  <a:moveTo>
                    <a:pt x="0" y="0"/>
                  </a:moveTo>
                  <a:lnTo>
                    <a:pt x="21945600" y="0"/>
                  </a:lnTo>
                  <a:lnTo>
                    <a:pt x="21945600" y="1309294"/>
                  </a:lnTo>
                  <a:lnTo>
                    <a:pt x="0" y="13092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348" b="-26384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21945600" cy="13569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47556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Estructura del Proyecto:</a:t>
              </a:r>
            </a:p>
            <a:p>
              <a:pPr algn="l">
                <a:lnSpc>
                  <a:spcPts val="2400"/>
                </a:lnSpc>
              </a:pPr>
              <a:endParaRPr lang="en-US" sz="2000" b="1">
                <a:solidFill>
                  <a:srgbClr val="475569"/>
                </a:solidFill>
                <a:latin typeface="Consolas Bold"/>
                <a:ea typeface="Consolas Bold"/>
                <a:cs typeface="Consolas Bold"/>
                <a:sym typeface="Consolas Bold"/>
              </a:endParaR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project/  ├── src/  ├── docs/ └── resolucion_conflicto.md  ├── README.md  ├── pom.xml  └── .gitignore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594229"/>
            </a:xfrm>
            <a:custGeom>
              <a:avLst/>
              <a:gdLst/>
              <a:ahLst/>
              <a:cxnLst/>
              <a:rect l="l" t="t" r="r" b="b"/>
              <a:pathLst>
                <a:path w="24417910" h="2594229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365760"/>
            <a:ext cx="16824960" cy="1188720"/>
            <a:chOff x="0" y="0"/>
            <a:chExt cx="2243328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584960"/>
            </a:xfrm>
            <a:custGeom>
              <a:avLst/>
              <a:gdLst/>
              <a:ahLst/>
              <a:cxnLst/>
              <a:rect l="l" t="t" r="r" b="b"/>
              <a:pathLst>
                <a:path w="22433280" h="158496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788" b="-225788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2433280" cy="1689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Evidencias y Entregables del Hito 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8823" y="2273303"/>
            <a:ext cx="8255003" cy="2037083"/>
            <a:chOff x="0" y="0"/>
            <a:chExt cx="11006671" cy="27161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06709" cy="2716149"/>
            </a:xfrm>
            <a:custGeom>
              <a:avLst/>
              <a:gdLst/>
              <a:ahLst/>
              <a:cxnLst/>
              <a:rect l="l" t="t" r="r" b="b"/>
              <a:pathLst>
                <a:path w="11006709" h="2716149">
                  <a:moveTo>
                    <a:pt x="0" y="0"/>
                  </a:moveTo>
                  <a:lnTo>
                    <a:pt x="11006709" y="0"/>
                  </a:lnTo>
                  <a:lnTo>
                    <a:pt x="1100670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2743200"/>
            <a:ext cx="1005840" cy="1005840"/>
            <a:chOff x="0" y="0"/>
            <a:chExt cx="1341120" cy="1341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134112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48256" y="2468880"/>
            <a:ext cx="6675120" cy="640080"/>
            <a:chOff x="0" y="0"/>
            <a:chExt cx="8900160" cy="853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900160" cy="853440"/>
            </a:xfrm>
            <a:custGeom>
              <a:avLst/>
              <a:gdLst/>
              <a:ahLst/>
              <a:cxnLst/>
              <a:rect l="l" t="t" r="r" b="b"/>
              <a:pathLst>
                <a:path w="8900160" h="853440">
                  <a:moveTo>
                    <a:pt x="0" y="0"/>
                  </a:moveTo>
                  <a:lnTo>
                    <a:pt x="8900160" y="0"/>
                  </a:lnTo>
                  <a:lnTo>
                    <a:pt x="89001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201" b="-15320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890016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Projects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48256" y="3108960"/>
            <a:ext cx="6675120" cy="1005840"/>
            <a:chOff x="0" y="0"/>
            <a:chExt cx="8900160" cy="1341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900160" cy="1341120"/>
            </a:xfrm>
            <a:custGeom>
              <a:avLst/>
              <a:gdLst/>
              <a:ahLst/>
              <a:cxnLst/>
              <a:rect l="l" t="t" r="r" b="b"/>
              <a:pathLst>
                <a:path w="8900160" h="1341120">
                  <a:moveTo>
                    <a:pt x="0" y="0"/>
                  </a:moveTo>
                  <a:lnTo>
                    <a:pt x="8900160" y="0"/>
                  </a:lnTo>
                  <a:lnTo>
                    <a:pt x="8900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309" b="-79309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90016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Tablero Kanban funcionando con columnas Backlog → Done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97063" y="2273303"/>
            <a:ext cx="8255003" cy="2037083"/>
            <a:chOff x="0" y="0"/>
            <a:chExt cx="11006671" cy="271611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006709" cy="2716149"/>
            </a:xfrm>
            <a:custGeom>
              <a:avLst/>
              <a:gdLst/>
              <a:ahLst/>
              <a:cxnLst/>
              <a:rect l="l" t="t" r="r" b="b"/>
              <a:pathLst>
                <a:path w="11006709" h="2716149">
                  <a:moveTo>
                    <a:pt x="0" y="0"/>
                  </a:moveTo>
                  <a:lnTo>
                    <a:pt x="11006709" y="0"/>
                  </a:lnTo>
                  <a:lnTo>
                    <a:pt x="1100670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92640" y="2743200"/>
            <a:ext cx="1005840" cy="1005840"/>
            <a:chOff x="0" y="0"/>
            <a:chExt cx="1341120" cy="1341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34112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🔗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826496" y="2468880"/>
            <a:ext cx="6675120" cy="640080"/>
            <a:chOff x="0" y="0"/>
            <a:chExt cx="8900160" cy="8534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900160" cy="853440"/>
            </a:xfrm>
            <a:custGeom>
              <a:avLst/>
              <a:gdLst/>
              <a:ahLst/>
              <a:cxnLst/>
              <a:rect l="l" t="t" r="r" b="b"/>
              <a:pathLst>
                <a:path w="8900160" h="853440">
                  <a:moveTo>
                    <a:pt x="0" y="0"/>
                  </a:moveTo>
                  <a:lnTo>
                    <a:pt x="8900160" y="0"/>
                  </a:lnTo>
                  <a:lnTo>
                    <a:pt x="89001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201" b="-15320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90016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Issues Vinculados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826496" y="3108960"/>
            <a:ext cx="6675120" cy="1005840"/>
            <a:chOff x="0" y="0"/>
            <a:chExt cx="8900160" cy="1341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900160" cy="1341120"/>
            </a:xfrm>
            <a:custGeom>
              <a:avLst/>
              <a:gdLst/>
              <a:ahLst/>
              <a:cxnLst/>
              <a:rect l="l" t="t" r="r" b="b"/>
              <a:pathLst>
                <a:path w="8900160" h="1341120">
                  <a:moveTo>
                    <a:pt x="0" y="0"/>
                  </a:moveTo>
                  <a:lnTo>
                    <a:pt x="8900160" y="0"/>
                  </a:lnTo>
                  <a:lnTo>
                    <a:pt x="8900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309" b="-79309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90016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Issues creados y asignados a cada integrante del equipo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18823" y="4650743"/>
            <a:ext cx="8255003" cy="2037083"/>
            <a:chOff x="0" y="0"/>
            <a:chExt cx="11006671" cy="271611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006709" cy="2716149"/>
            </a:xfrm>
            <a:custGeom>
              <a:avLst/>
              <a:gdLst/>
              <a:ahLst/>
              <a:cxnLst/>
              <a:rect l="l" t="t" r="r" b="b"/>
              <a:pathLst>
                <a:path w="11006709" h="2716149">
                  <a:moveTo>
                    <a:pt x="0" y="0"/>
                  </a:moveTo>
                  <a:lnTo>
                    <a:pt x="11006709" y="0"/>
                  </a:lnTo>
                  <a:lnTo>
                    <a:pt x="1100670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" y="5120640"/>
            <a:ext cx="1005840" cy="1005840"/>
            <a:chOff x="0" y="0"/>
            <a:chExt cx="1341120" cy="13411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134112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🔀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048256" y="4846320"/>
            <a:ext cx="6675120" cy="640080"/>
            <a:chOff x="0" y="0"/>
            <a:chExt cx="8900160" cy="8534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900160" cy="853440"/>
            </a:xfrm>
            <a:custGeom>
              <a:avLst/>
              <a:gdLst/>
              <a:ahLst/>
              <a:cxnLst/>
              <a:rect l="l" t="t" r="r" b="b"/>
              <a:pathLst>
                <a:path w="8900160" h="853440">
                  <a:moveTo>
                    <a:pt x="0" y="0"/>
                  </a:moveTo>
                  <a:lnTo>
                    <a:pt x="8900160" y="0"/>
                  </a:lnTo>
                  <a:lnTo>
                    <a:pt x="89001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201" b="-15320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890016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Pull Requests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048256" y="5486400"/>
            <a:ext cx="6675120" cy="1005840"/>
            <a:chOff x="0" y="0"/>
            <a:chExt cx="8900160" cy="13411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900160" cy="1341120"/>
            </a:xfrm>
            <a:custGeom>
              <a:avLst/>
              <a:gdLst/>
              <a:ahLst/>
              <a:cxnLst/>
              <a:rect l="l" t="t" r="r" b="b"/>
              <a:pathLst>
                <a:path w="8900160" h="1341120">
                  <a:moveTo>
                    <a:pt x="0" y="0"/>
                  </a:moveTo>
                  <a:lnTo>
                    <a:pt x="8900160" y="0"/>
                  </a:lnTo>
                  <a:lnTo>
                    <a:pt x="8900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309" b="-79309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890016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 documentados con Closes # para cierre automático de issues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497063" y="4650743"/>
            <a:ext cx="8255003" cy="2037083"/>
            <a:chOff x="0" y="0"/>
            <a:chExt cx="11006671" cy="271611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006709" cy="2716149"/>
            </a:xfrm>
            <a:custGeom>
              <a:avLst/>
              <a:gdLst/>
              <a:ahLst/>
              <a:cxnLst/>
              <a:rect l="l" t="t" r="r" b="b"/>
              <a:pathLst>
                <a:path w="11006709" h="2716149">
                  <a:moveTo>
                    <a:pt x="0" y="0"/>
                  </a:moveTo>
                  <a:lnTo>
                    <a:pt x="11006709" y="0"/>
                  </a:lnTo>
                  <a:lnTo>
                    <a:pt x="1100670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692640" y="5120640"/>
            <a:ext cx="1005840" cy="1005840"/>
            <a:chOff x="0" y="0"/>
            <a:chExt cx="1341120" cy="13411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85725"/>
              <a:ext cx="134112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📖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826496" y="4846320"/>
            <a:ext cx="6675120" cy="640080"/>
            <a:chOff x="0" y="0"/>
            <a:chExt cx="8900160" cy="8534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900160" cy="853440"/>
            </a:xfrm>
            <a:custGeom>
              <a:avLst/>
              <a:gdLst/>
              <a:ahLst/>
              <a:cxnLst/>
              <a:rect l="l" t="t" r="r" b="b"/>
              <a:pathLst>
                <a:path w="8900160" h="853440">
                  <a:moveTo>
                    <a:pt x="0" y="0"/>
                  </a:moveTo>
                  <a:lnTo>
                    <a:pt x="8900160" y="0"/>
                  </a:lnTo>
                  <a:lnTo>
                    <a:pt x="89001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201" b="-15320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890016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Swagger Operativo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826496" y="5486400"/>
            <a:ext cx="6675120" cy="1005840"/>
            <a:chOff x="0" y="0"/>
            <a:chExt cx="8900160" cy="13411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900160" cy="1341120"/>
            </a:xfrm>
            <a:custGeom>
              <a:avLst/>
              <a:gdLst/>
              <a:ahLst/>
              <a:cxnLst/>
              <a:rect l="l" t="t" r="r" b="b"/>
              <a:pathLst>
                <a:path w="8900160" h="1341120">
                  <a:moveTo>
                    <a:pt x="0" y="0"/>
                  </a:moveTo>
                  <a:lnTo>
                    <a:pt x="8900160" y="0"/>
                  </a:lnTo>
                  <a:lnTo>
                    <a:pt x="8900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309" b="-79309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890016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Documentación interactiva accesible en /swagger-ui/index.html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18823" y="7028183"/>
            <a:ext cx="8255003" cy="2037083"/>
            <a:chOff x="0" y="0"/>
            <a:chExt cx="11006671" cy="271611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006709" cy="2716149"/>
            </a:xfrm>
            <a:custGeom>
              <a:avLst/>
              <a:gdLst/>
              <a:ahLst/>
              <a:cxnLst/>
              <a:rect l="l" t="t" r="r" b="b"/>
              <a:pathLst>
                <a:path w="11006709" h="2716149">
                  <a:moveTo>
                    <a:pt x="0" y="0"/>
                  </a:moveTo>
                  <a:lnTo>
                    <a:pt x="11006709" y="0"/>
                  </a:lnTo>
                  <a:lnTo>
                    <a:pt x="1100670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14400" y="7498080"/>
            <a:ext cx="1005840" cy="1005840"/>
            <a:chOff x="0" y="0"/>
            <a:chExt cx="1341120" cy="13411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85725"/>
              <a:ext cx="134112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⚙️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048256" y="7223760"/>
            <a:ext cx="6675120" cy="640080"/>
            <a:chOff x="0" y="0"/>
            <a:chExt cx="8900160" cy="8534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900160" cy="853440"/>
            </a:xfrm>
            <a:custGeom>
              <a:avLst/>
              <a:gdLst/>
              <a:ahLst/>
              <a:cxnLst/>
              <a:rect l="l" t="t" r="r" b="b"/>
              <a:pathLst>
                <a:path w="8900160" h="853440">
                  <a:moveTo>
                    <a:pt x="0" y="0"/>
                  </a:moveTo>
                  <a:lnTo>
                    <a:pt x="8900160" y="0"/>
                  </a:lnTo>
                  <a:lnTo>
                    <a:pt x="89001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201" b="-15320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890016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CRUD REST Funcional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048256" y="7863840"/>
            <a:ext cx="6675120" cy="1005840"/>
            <a:chOff x="0" y="0"/>
            <a:chExt cx="8900160" cy="13411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900160" cy="1341120"/>
            </a:xfrm>
            <a:custGeom>
              <a:avLst/>
              <a:gdLst/>
              <a:ahLst/>
              <a:cxnLst/>
              <a:rect l="l" t="t" r="r" b="b"/>
              <a:pathLst>
                <a:path w="8900160" h="1341120">
                  <a:moveTo>
                    <a:pt x="0" y="0"/>
                  </a:moveTo>
                  <a:lnTo>
                    <a:pt x="8900160" y="0"/>
                  </a:lnTo>
                  <a:lnTo>
                    <a:pt x="8900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309" b="-79309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890016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Módulos Productos y Pedidos completamente implementados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497063" y="7028183"/>
            <a:ext cx="8255003" cy="2037083"/>
            <a:chOff x="0" y="0"/>
            <a:chExt cx="11006671" cy="2716111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006709" cy="2716149"/>
            </a:xfrm>
            <a:custGeom>
              <a:avLst/>
              <a:gdLst/>
              <a:ahLst/>
              <a:cxnLst/>
              <a:rect l="l" t="t" r="r" b="b"/>
              <a:pathLst>
                <a:path w="11006709" h="2716149">
                  <a:moveTo>
                    <a:pt x="0" y="0"/>
                  </a:moveTo>
                  <a:lnTo>
                    <a:pt x="11006709" y="0"/>
                  </a:lnTo>
                  <a:lnTo>
                    <a:pt x="1100670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692640" y="7498080"/>
            <a:ext cx="1005840" cy="1005840"/>
            <a:chOff x="0" y="0"/>
            <a:chExt cx="1341120" cy="13411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85725"/>
              <a:ext cx="134112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826496" y="7223760"/>
            <a:ext cx="6675120" cy="640080"/>
            <a:chOff x="0" y="0"/>
            <a:chExt cx="8900160" cy="8534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900160" cy="853440"/>
            </a:xfrm>
            <a:custGeom>
              <a:avLst/>
              <a:gdLst/>
              <a:ahLst/>
              <a:cxnLst/>
              <a:rect l="l" t="t" r="r" b="b"/>
              <a:pathLst>
                <a:path w="8900160" h="853440">
                  <a:moveTo>
                    <a:pt x="0" y="0"/>
                  </a:moveTo>
                  <a:lnTo>
                    <a:pt x="8900160" y="0"/>
                  </a:lnTo>
                  <a:lnTo>
                    <a:pt x="89001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201" b="-153201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57150"/>
              <a:ext cx="890016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Merge Conflict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826496" y="7863840"/>
            <a:ext cx="6675120" cy="1005840"/>
            <a:chOff x="0" y="0"/>
            <a:chExt cx="8900160" cy="134112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900160" cy="1341120"/>
            </a:xfrm>
            <a:custGeom>
              <a:avLst/>
              <a:gdLst/>
              <a:ahLst/>
              <a:cxnLst/>
              <a:rect l="l" t="t" r="r" b="b"/>
              <a:pathLst>
                <a:path w="8900160" h="1341120">
                  <a:moveTo>
                    <a:pt x="0" y="0"/>
                  </a:moveTo>
                  <a:lnTo>
                    <a:pt x="8900160" y="0"/>
                  </a:lnTo>
                  <a:lnTo>
                    <a:pt x="8900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309" b="-79309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890016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Conflicto documentado en docs/hito2/04_RESOLUCION_CONFLICTOS.md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44859"/>
            <a:chOff x="0" y="0"/>
            <a:chExt cx="24417871" cy="3264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326517"/>
            </a:xfrm>
            <a:custGeom>
              <a:avLst/>
              <a:gdLst/>
              <a:ahLst/>
              <a:cxnLst/>
              <a:rect l="l" t="t" r="r" b="b"/>
              <a:pathLst>
                <a:path w="24417910" h="326517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2697" y="10045703"/>
            <a:ext cx="18313403" cy="263147"/>
            <a:chOff x="0" y="0"/>
            <a:chExt cx="24417871" cy="3508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17910" cy="350901"/>
            </a:xfrm>
            <a:custGeom>
              <a:avLst/>
              <a:gdLst/>
              <a:ahLst/>
              <a:cxnLst/>
              <a:rect l="l" t="t" r="r" b="b"/>
              <a:pathLst>
                <a:path w="24417910" h="350901">
                  <a:moveTo>
                    <a:pt x="0" y="0"/>
                  </a:moveTo>
                  <a:lnTo>
                    <a:pt x="24417910" y="0"/>
                  </a:lnTo>
                  <a:lnTo>
                    <a:pt x="24417910" y="350901"/>
                  </a:lnTo>
                  <a:lnTo>
                    <a:pt x="0" y="350901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65760"/>
            <a:ext cx="16459200" cy="1371600"/>
            <a:chOff x="0" y="0"/>
            <a:chExt cx="21945600" cy="1828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1828800"/>
            </a:xfrm>
            <a:custGeom>
              <a:avLst/>
              <a:gdLst/>
              <a:ahLst/>
              <a:cxnLst/>
              <a:rect l="l" t="t" r="r" b="b"/>
              <a:pathLst>
                <a:path w="21945600" h="18288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42875"/>
              <a:ext cx="21945600" cy="1971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8823" y="1907543"/>
            <a:ext cx="8255003" cy="2402843"/>
            <a:chOff x="0" y="0"/>
            <a:chExt cx="11006671" cy="32037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006709" cy="3203829"/>
            </a:xfrm>
            <a:custGeom>
              <a:avLst/>
              <a:gdLst/>
              <a:ahLst/>
              <a:cxnLst/>
              <a:rect l="l" t="t" r="r" b="b"/>
              <a:pathLst>
                <a:path w="11006709" h="3203829">
                  <a:moveTo>
                    <a:pt x="0" y="0"/>
                  </a:moveTo>
                  <a:lnTo>
                    <a:pt x="11006709" y="0"/>
                  </a:lnTo>
                  <a:lnTo>
                    <a:pt x="110067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2D4F73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8823" y="1907543"/>
            <a:ext cx="354587" cy="2402843"/>
            <a:chOff x="0" y="0"/>
            <a:chExt cx="472783" cy="32037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2821" cy="3203829"/>
            </a:xfrm>
            <a:custGeom>
              <a:avLst/>
              <a:gdLst/>
              <a:ahLst/>
              <a:cxnLst/>
              <a:rect l="l" t="t" r="r" b="b"/>
              <a:pathLst>
                <a:path w="472821" h="3203829">
                  <a:moveTo>
                    <a:pt x="0" y="0"/>
                  </a:moveTo>
                  <a:lnTo>
                    <a:pt x="472821" y="0"/>
                  </a:lnTo>
                  <a:lnTo>
                    <a:pt x="472821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88720" y="2066544"/>
            <a:ext cx="914400" cy="585216"/>
            <a:chOff x="0" y="0"/>
            <a:chExt cx="1219200" cy="78028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19200" cy="780288"/>
            </a:xfrm>
            <a:custGeom>
              <a:avLst/>
              <a:gdLst/>
              <a:ahLst/>
              <a:cxnLst/>
              <a:rect l="l" t="t" r="r" b="b"/>
              <a:pathLst>
                <a:path w="1219200" h="780288">
                  <a:moveTo>
                    <a:pt x="0" y="0"/>
                  </a:moveTo>
                  <a:lnTo>
                    <a:pt x="1219200" y="0"/>
                  </a:lnTo>
                  <a:lnTo>
                    <a:pt x="1219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r="-3211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21920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157984" y="2066544"/>
            <a:ext cx="6492240" cy="585216"/>
            <a:chOff x="0" y="0"/>
            <a:chExt cx="8656320" cy="7802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656320" cy="780288"/>
            </a:xfrm>
            <a:custGeom>
              <a:avLst/>
              <a:gdLst/>
              <a:ahLst/>
              <a:cxnLst/>
              <a:rect l="l" t="t" r="r" b="b"/>
              <a:pathLst>
                <a:path w="8656320" h="780288">
                  <a:moveTo>
                    <a:pt x="0" y="0"/>
                  </a:moveTo>
                  <a:lnTo>
                    <a:pt x="8656320" y="0"/>
                  </a:lnTo>
                  <a:lnTo>
                    <a:pt x="8656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162" b="-16616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65632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Ágil Efectiva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88720" y="2688336"/>
            <a:ext cx="7498080" cy="1499616"/>
            <a:chOff x="0" y="0"/>
            <a:chExt cx="9997440" cy="19994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997440" cy="1999488"/>
            </a:xfrm>
            <a:custGeom>
              <a:avLst/>
              <a:gdLst/>
              <a:ahLst/>
              <a:cxnLst/>
              <a:rect l="l" t="t" r="r" b="b"/>
              <a:pathLst>
                <a:path w="9997440" h="1999488">
                  <a:moveTo>
                    <a:pt x="0" y="0"/>
                  </a:moveTo>
                  <a:lnTo>
                    <a:pt x="9997440" y="0"/>
                  </a:lnTo>
                  <a:lnTo>
                    <a:pt x="99974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999744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uso de GitHub Projects con Kanban e Issues permitió al equipo organizarse claramente, asignar responsabilidades y rastrear el avance en tiempo real, demostrando la eficacia de las metodologías ágiles en proyectos colaborativos.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18823" y="4559303"/>
            <a:ext cx="8255003" cy="2402843"/>
            <a:chOff x="0" y="0"/>
            <a:chExt cx="11006671" cy="32037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006709" cy="3203829"/>
            </a:xfrm>
            <a:custGeom>
              <a:avLst/>
              <a:gdLst/>
              <a:ahLst/>
              <a:cxnLst/>
              <a:rect l="l" t="t" r="r" b="b"/>
              <a:pathLst>
                <a:path w="11006709" h="3203829">
                  <a:moveTo>
                    <a:pt x="0" y="0"/>
                  </a:moveTo>
                  <a:lnTo>
                    <a:pt x="11006709" y="0"/>
                  </a:lnTo>
                  <a:lnTo>
                    <a:pt x="110067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2D4F73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8823" y="4559303"/>
            <a:ext cx="354587" cy="2402843"/>
            <a:chOff x="0" y="0"/>
            <a:chExt cx="472783" cy="320379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2821" cy="3203829"/>
            </a:xfrm>
            <a:custGeom>
              <a:avLst/>
              <a:gdLst/>
              <a:ahLst/>
              <a:cxnLst/>
              <a:rect l="l" t="t" r="r" b="b"/>
              <a:pathLst>
                <a:path w="472821" h="3203829">
                  <a:moveTo>
                    <a:pt x="0" y="0"/>
                  </a:moveTo>
                  <a:lnTo>
                    <a:pt x="472821" y="0"/>
                  </a:lnTo>
                  <a:lnTo>
                    <a:pt x="472821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88720" y="4718304"/>
            <a:ext cx="914400" cy="585216"/>
            <a:chOff x="0" y="0"/>
            <a:chExt cx="1219200" cy="7802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780288"/>
            </a:xfrm>
            <a:custGeom>
              <a:avLst/>
              <a:gdLst/>
              <a:ahLst/>
              <a:cxnLst/>
              <a:rect l="l" t="t" r="r" b="b"/>
              <a:pathLst>
                <a:path w="1219200" h="780288">
                  <a:moveTo>
                    <a:pt x="0" y="0"/>
                  </a:moveTo>
                  <a:lnTo>
                    <a:pt x="1219200" y="0"/>
                  </a:lnTo>
                  <a:lnTo>
                    <a:pt x="1219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r="-3211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21920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57984" y="4718304"/>
            <a:ext cx="6492240" cy="585216"/>
            <a:chOff x="0" y="0"/>
            <a:chExt cx="8656320" cy="7802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656320" cy="780288"/>
            </a:xfrm>
            <a:custGeom>
              <a:avLst/>
              <a:gdLst/>
              <a:ahLst/>
              <a:cxnLst/>
              <a:rect l="l" t="t" r="r" b="b"/>
              <a:pathLst>
                <a:path w="8656320" h="780288">
                  <a:moveTo>
                    <a:pt x="0" y="0"/>
                  </a:moveTo>
                  <a:lnTo>
                    <a:pt x="8656320" y="0"/>
                  </a:lnTo>
                  <a:lnTo>
                    <a:pt x="8656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162" b="-16616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865632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 Backend Estructurado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88720" y="5340096"/>
            <a:ext cx="7498080" cy="1499616"/>
            <a:chOff x="0" y="0"/>
            <a:chExt cx="9997440" cy="19994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997440" cy="1999488"/>
            </a:xfrm>
            <a:custGeom>
              <a:avLst/>
              <a:gdLst/>
              <a:ahLst/>
              <a:cxnLst/>
              <a:rect l="l" t="t" r="r" b="b"/>
              <a:pathLst>
                <a:path w="9997440" h="1999488">
                  <a:moveTo>
                    <a:pt x="0" y="0"/>
                  </a:moveTo>
                  <a:lnTo>
                    <a:pt x="9997440" y="0"/>
                  </a:lnTo>
                  <a:lnTo>
                    <a:pt x="99974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999744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módulos REST de Productos y Pedidos, desarrollados con Spring Boot, evidencian una arquitectura limpia con separación por capas y operaciones CRUD completas, siguiendo buenas prácticas de desarrollo.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18823" y="7211063"/>
            <a:ext cx="8255003" cy="2402843"/>
            <a:chOff x="0" y="0"/>
            <a:chExt cx="11006671" cy="320379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006709" cy="3203829"/>
            </a:xfrm>
            <a:custGeom>
              <a:avLst/>
              <a:gdLst/>
              <a:ahLst/>
              <a:cxnLst/>
              <a:rect l="l" t="t" r="r" b="b"/>
              <a:pathLst>
                <a:path w="11006709" h="3203829">
                  <a:moveTo>
                    <a:pt x="0" y="0"/>
                  </a:moveTo>
                  <a:lnTo>
                    <a:pt x="11006709" y="0"/>
                  </a:lnTo>
                  <a:lnTo>
                    <a:pt x="110067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2D4F73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18823" y="7211063"/>
            <a:ext cx="354587" cy="2402843"/>
            <a:chOff x="0" y="0"/>
            <a:chExt cx="472783" cy="320379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72821" cy="3203829"/>
            </a:xfrm>
            <a:custGeom>
              <a:avLst/>
              <a:gdLst/>
              <a:ahLst/>
              <a:cxnLst/>
              <a:rect l="l" t="t" r="r" b="b"/>
              <a:pathLst>
                <a:path w="472821" h="3203829">
                  <a:moveTo>
                    <a:pt x="0" y="0"/>
                  </a:moveTo>
                  <a:lnTo>
                    <a:pt x="472821" y="0"/>
                  </a:lnTo>
                  <a:lnTo>
                    <a:pt x="472821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88720" y="7370064"/>
            <a:ext cx="914400" cy="585216"/>
            <a:chOff x="0" y="0"/>
            <a:chExt cx="1219200" cy="78028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19200" cy="780288"/>
            </a:xfrm>
            <a:custGeom>
              <a:avLst/>
              <a:gdLst/>
              <a:ahLst/>
              <a:cxnLst/>
              <a:rect l="l" t="t" r="r" b="b"/>
              <a:pathLst>
                <a:path w="1219200" h="780288">
                  <a:moveTo>
                    <a:pt x="0" y="0"/>
                  </a:moveTo>
                  <a:lnTo>
                    <a:pt x="1219200" y="0"/>
                  </a:lnTo>
                  <a:lnTo>
                    <a:pt x="1219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r="-3211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21920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157984" y="7370064"/>
            <a:ext cx="6492240" cy="585216"/>
            <a:chOff x="0" y="0"/>
            <a:chExt cx="8656320" cy="78028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656320" cy="780288"/>
            </a:xfrm>
            <a:custGeom>
              <a:avLst/>
              <a:gdLst/>
              <a:ahLst/>
              <a:cxnLst/>
              <a:rect l="l" t="t" r="r" b="b"/>
              <a:pathLst>
                <a:path w="8656320" h="780288">
                  <a:moveTo>
                    <a:pt x="0" y="0"/>
                  </a:moveTo>
                  <a:lnTo>
                    <a:pt x="8656320" y="0"/>
                  </a:lnTo>
                  <a:lnTo>
                    <a:pt x="8656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162" b="-16616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865632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Documentación Automatizada con Swagger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88720" y="7991856"/>
            <a:ext cx="7498080" cy="1499616"/>
            <a:chOff x="0" y="0"/>
            <a:chExt cx="9997440" cy="199948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997440" cy="1999488"/>
            </a:xfrm>
            <a:custGeom>
              <a:avLst/>
              <a:gdLst/>
              <a:ahLst/>
              <a:cxnLst/>
              <a:rect l="l" t="t" r="r" b="b"/>
              <a:pathLst>
                <a:path w="9997440" h="1999488">
                  <a:moveTo>
                    <a:pt x="0" y="0"/>
                  </a:moveTo>
                  <a:lnTo>
                    <a:pt x="9997440" y="0"/>
                  </a:lnTo>
                  <a:lnTo>
                    <a:pt x="99974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999744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integración de Swagger/OpenAPI demostró que la documentación no debe ser un proceso manual. Automatizarla reduce errores, facilita las pruebas y mejora la comunicación entre desarrolladores.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679943" y="1907543"/>
            <a:ext cx="8255003" cy="2402843"/>
            <a:chOff x="0" y="0"/>
            <a:chExt cx="11006671" cy="320379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006709" cy="3203829"/>
            </a:xfrm>
            <a:custGeom>
              <a:avLst/>
              <a:gdLst/>
              <a:ahLst/>
              <a:cxnLst/>
              <a:rect l="l" t="t" r="r" b="b"/>
              <a:pathLst>
                <a:path w="11006709" h="3203829">
                  <a:moveTo>
                    <a:pt x="0" y="0"/>
                  </a:moveTo>
                  <a:lnTo>
                    <a:pt x="11006709" y="0"/>
                  </a:lnTo>
                  <a:lnTo>
                    <a:pt x="110067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2D4F73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679943" y="1907543"/>
            <a:ext cx="354587" cy="2402843"/>
            <a:chOff x="0" y="0"/>
            <a:chExt cx="472783" cy="320379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72821" cy="3203829"/>
            </a:xfrm>
            <a:custGeom>
              <a:avLst/>
              <a:gdLst/>
              <a:ahLst/>
              <a:cxnLst/>
              <a:rect l="l" t="t" r="r" b="b"/>
              <a:pathLst>
                <a:path w="472821" h="3203829">
                  <a:moveTo>
                    <a:pt x="0" y="0"/>
                  </a:moveTo>
                  <a:lnTo>
                    <a:pt x="472821" y="0"/>
                  </a:lnTo>
                  <a:lnTo>
                    <a:pt x="472821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149840" y="2066544"/>
            <a:ext cx="914400" cy="585216"/>
            <a:chOff x="0" y="0"/>
            <a:chExt cx="1219200" cy="78028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19200" cy="780288"/>
            </a:xfrm>
            <a:custGeom>
              <a:avLst/>
              <a:gdLst/>
              <a:ahLst/>
              <a:cxnLst/>
              <a:rect l="l" t="t" r="r" b="b"/>
              <a:pathLst>
                <a:path w="1219200" h="780288">
                  <a:moveTo>
                    <a:pt x="0" y="0"/>
                  </a:moveTo>
                  <a:lnTo>
                    <a:pt x="1219200" y="0"/>
                  </a:lnTo>
                  <a:lnTo>
                    <a:pt x="1219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r="-3211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57150"/>
              <a:ext cx="121920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119104" y="2066544"/>
            <a:ext cx="6492240" cy="585216"/>
            <a:chOff x="0" y="0"/>
            <a:chExt cx="8656320" cy="78028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656320" cy="780288"/>
            </a:xfrm>
            <a:custGeom>
              <a:avLst/>
              <a:gdLst/>
              <a:ahLst/>
              <a:cxnLst/>
              <a:rect l="l" t="t" r="r" b="b"/>
              <a:pathLst>
                <a:path w="8656320" h="780288">
                  <a:moveTo>
                    <a:pt x="0" y="0"/>
                  </a:moveTo>
                  <a:lnTo>
                    <a:pt x="8656320" y="0"/>
                  </a:lnTo>
                  <a:lnTo>
                    <a:pt x="8656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162" b="-16616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865632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de Conflictos en Equipo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149840" y="2688336"/>
            <a:ext cx="7498080" cy="1499616"/>
            <a:chOff x="0" y="0"/>
            <a:chExt cx="9997440" cy="199948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997440" cy="1999488"/>
            </a:xfrm>
            <a:custGeom>
              <a:avLst/>
              <a:gdLst/>
              <a:ahLst/>
              <a:cxnLst/>
              <a:rect l="l" t="t" r="r" b="b"/>
              <a:pathLst>
                <a:path w="9997440" h="1999488">
                  <a:moveTo>
                    <a:pt x="0" y="0"/>
                  </a:moveTo>
                  <a:lnTo>
                    <a:pt x="9997440" y="0"/>
                  </a:lnTo>
                  <a:lnTo>
                    <a:pt x="99974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999744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simulación y resolución del Merge Conflict preparó al equipo para escenarios reales de trabajo paralelo, consolidando habilidades esenciales en el flujo de trabajo con Git y VS Code.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679943" y="4559303"/>
            <a:ext cx="8255003" cy="2402843"/>
            <a:chOff x="0" y="0"/>
            <a:chExt cx="11006671" cy="320379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006709" cy="3203829"/>
            </a:xfrm>
            <a:custGeom>
              <a:avLst/>
              <a:gdLst/>
              <a:ahLst/>
              <a:cxnLst/>
              <a:rect l="l" t="t" r="r" b="b"/>
              <a:pathLst>
                <a:path w="11006709" h="3203829">
                  <a:moveTo>
                    <a:pt x="0" y="0"/>
                  </a:moveTo>
                  <a:lnTo>
                    <a:pt x="11006709" y="0"/>
                  </a:lnTo>
                  <a:lnTo>
                    <a:pt x="110067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2D4F73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679943" y="4559303"/>
            <a:ext cx="354587" cy="2402843"/>
            <a:chOff x="0" y="0"/>
            <a:chExt cx="472783" cy="3203791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72821" cy="3203829"/>
            </a:xfrm>
            <a:custGeom>
              <a:avLst/>
              <a:gdLst/>
              <a:ahLst/>
              <a:cxnLst/>
              <a:rect l="l" t="t" r="r" b="b"/>
              <a:pathLst>
                <a:path w="472821" h="3203829">
                  <a:moveTo>
                    <a:pt x="0" y="0"/>
                  </a:moveTo>
                  <a:lnTo>
                    <a:pt x="472821" y="0"/>
                  </a:lnTo>
                  <a:lnTo>
                    <a:pt x="472821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149840" y="4718304"/>
            <a:ext cx="914400" cy="585216"/>
            <a:chOff x="0" y="0"/>
            <a:chExt cx="1219200" cy="78028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219200" cy="780288"/>
            </a:xfrm>
            <a:custGeom>
              <a:avLst/>
              <a:gdLst/>
              <a:ahLst/>
              <a:cxnLst/>
              <a:rect l="l" t="t" r="r" b="b"/>
              <a:pathLst>
                <a:path w="1219200" h="780288">
                  <a:moveTo>
                    <a:pt x="0" y="0"/>
                  </a:moveTo>
                  <a:lnTo>
                    <a:pt x="1219200" y="0"/>
                  </a:lnTo>
                  <a:lnTo>
                    <a:pt x="1219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r="-32114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121920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1119104" y="4718304"/>
            <a:ext cx="6492240" cy="585216"/>
            <a:chOff x="0" y="0"/>
            <a:chExt cx="8656320" cy="78028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656320" cy="780288"/>
            </a:xfrm>
            <a:custGeom>
              <a:avLst/>
              <a:gdLst/>
              <a:ahLst/>
              <a:cxnLst/>
              <a:rect l="l" t="t" r="r" b="b"/>
              <a:pathLst>
                <a:path w="8656320" h="780288">
                  <a:moveTo>
                    <a:pt x="0" y="0"/>
                  </a:moveTo>
                  <a:lnTo>
                    <a:pt x="8656320" y="0"/>
                  </a:lnTo>
                  <a:lnTo>
                    <a:pt x="8656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162" b="-166162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865632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Flujo Git Profesional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149840" y="5340096"/>
            <a:ext cx="7498080" cy="1499616"/>
            <a:chOff x="0" y="0"/>
            <a:chExt cx="9997440" cy="199948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9997440" cy="1999488"/>
            </a:xfrm>
            <a:custGeom>
              <a:avLst/>
              <a:gdLst/>
              <a:ahLst/>
              <a:cxnLst/>
              <a:rect l="l" t="t" r="r" b="b"/>
              <a:pathLst>
                <a:path w="9997440" h="1999488">
                  <a:moveTo>
                    <a:pt x="0" y="0"/>
                  </a:moveTo>
                  <a:lnTo>
                    <a:pt x="9997440" y="0"/>
                  </a:lnTo>
                  <a:lnTo>
                    <a:pt x="99974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999744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adopción de ramas feature, pull requests y merges controlados establece una base sólida para el trabajo en equipo a mayor escala, garantizando trazabilidad y calidad del código.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44859"/>
            <a:chOff x="0" y="0"/>
            <a:chExt cx="24417871" cy="3264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326517"/>
            </a:xfrm>
            <a:custGeom>
              <a:avLst/>
              <a:gdLst/>
              <a:ahLst/>
              <a:cxnLst/>
              <a:rect l="l" t="t" r="r" b="b"/>
              <a:pathLst>
                <a:path w="24417910" h="326517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2697" y="10045703"/>
            <a:ext cx="18313403" cy="263147"/>
            <a:chOff x="0" y="0"/>
            <a:chExt cx="24417871" cy="3508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17910" cy="350901"/>
            </a:xfrm>
            <a:custGeom>
              <a:avLst/>
              <a:gdLst/>
              <a:ahLst/>
              <a:cxnLst/>
              <a:rect l="l" t="t" r="r" b="b"/>
              <a:pathLst>
                <a:path w="24417910" h="350901">
                  <a:moveTo>
                    <a:pt x="0" y="0"/>
                  </a:moveTo>
                  <a:lnTo>
                    <a:pt x="24417910" y="0"/>
                  </a:lnTo>
                  <a:lnTo>
                    <a:pt x="24417910" y="350901"/>
                  </a:lnTo>
                  <a:lnTo>
                    <a:pt x="0" y="350901"/>
                  </a:lnTo>
                  <a:close/>
                </a:path>
              </a:pathLst>
            </a:custGeom>
            <a:solidFill>
              <a:srgbClr val="1A2B4A"/>
            </a:solidFill>
            <a:ln w="25400" cap="sq">
              <a:solidFill>
                <a:srgbClr val="1A2B4A"/>
              </a:soli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2926080"/>
            <a:ext cx="16459200" cy="2194560"/>
            <a:chOff x="0" y="0"/>
            <a:chExt cx="21945600" cy="2926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926080"/>
            </a:xfrm>
            <a:custGeom>
              <a:avLst/>
              <a:gdLst/>
              <a:ahLst/>
              <a:cxnLst/>
              <a:rect l="l" t="t" r="r" b="b"/>
              <a:pathLst>
                <a:path w="21945600" h="2926080">
                  <a:moveTo>
                    <a:pt x="0" y="0"/>
                  </a:moveTo>
                  <a:lnTo>
                    <a:pt x="21945600" y="0"/>
                  </a:lnTo>
                  <a:lnTo>
                    <a:pt x="21945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47650"/>
              <a:ext cx="21945600" cy="3173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00"/>
                </a:lnSpc>
              </a:pPr>
              <a:r>
                <a:rPr lang="en-US" sz="1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¡Gracias!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5486400"/>
            <a:ext cx="16459200" cy="914400"/>
            <a:chOff x="0" y="0"/>
            <a:chExt cx="21945600" cy="121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19456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E0F2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UrbanFlow – Hito 2 | Grupo 8 | Herramientas de Desarrollo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6492240"/>
            <a:ext cx="16459200" cy="731520"/>
            <a:chOff x="0" y="0"/>
            <a:chExt cx="21945600" cy="975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i="1">
                  <a:solidFill>
                    <a:srgbClr val="A5F3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San Juan de Lurigancho,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2157</Words>
  <Application>Microsoft Office PowerPoint</Application>
  <PresentationFormat>Personalizado</PresentationFormat>
  <Paragraphs>427</Paragraphs>
  <Slides>36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5" baseType="lpstr">
      <vt:lpstr>Arial</vt:lpstr>
      <vt:lpstr>Consolas</vt:lpstr>
      <vt:lpstr>Calibri (MS) Bold</vt:lpstr>
      <vt:lpstr>Verdana</vt:lpstr>
      <vt:lpstr>Consolas Bold</vt:lpstr>
      <vt:lpstr>Calibri (MS) Italics</vt:lpstr>
      <vt:lpstr>Calibri</vt:lpstr>
      <vt:lpstr>Calibri (MS)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UrbanFlow_Hito2.pptx</dc:title>
  <cp:lastModifiedBy>ALUMNO - URIEL VASQUEZ QUISPE</cp:lastModifiedBy>
  <cp:revision>2</cp:revision>
  <dcterms:created xsi:type="dcterms:W3CDTF">2006-08-16T00:00:00Z</dcterms:created>
  <dcterms:modified xsi:type="dcterms:W3CDTF">2026-05-27T22:21:22Z</dcterms:modified>
  <dc:identifier>DAHK5VdSX7Q</dc:identifier>
</cp:coreProperties>
</file>